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17"/>
  </p:notesMasterIdLst>
  <p:sldIdLst>
    <p:sldId id="256" r:id="rId2"/>
    <p:sldId id="258" r:id="rId3"/>
    <p:sldId id="260" r:id="rId4"/>
    <p:sldId id="262" r:id="rId5"/>
    <p:sldId id="309" r:id="rId6"/>
    <p:sldId id="307" r:id="rId7"/>
    <p:sldId id="297" r:id="rId8"/>
    <p:sldId id="299" r:id="rId9"/>
    <p:sldId id="305" r:id="rId10"/>
    <p:sldId id="310" r:id="rId11"/>
    <p:sldId id="317" r:id="rId12"/>
    <p:sldId id="314" r:id="rId13"/>
    <p:sldId id="308" r:id="rId14"/>
    <p:sldId id="318" r:id="rId15"/>
    <p:sldId id="319" r:id="rId16"/>
  </p:sldIdLst>
  <p:sldSz cx="9144000" cy="6858000" type="screen4x3"/>
  <p:notesSz cx="6858000" cy="9144000"/>
  <p:defaultTextStyle>
    <a:defPPr>
      <a:defRPr lang="en-IN"/>
    </a:defPPr>
    <a:lvl1pPr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5pPr>
    <a:lvl6pPr marL="2286000" algn="l" defTabSz="914400" rtl="0" eaLnBrk="1" latinLnBrk="0" hangingPunct="1">
      <a:defRPr kern="1200">
        <a:solidFill>
          <a:schemeClr val="tx1"/>
        </a:solidFill>
        <a:latin typeface="Gill Sans MT" panose="020B0502020104020203" pitchFamily="34" charset="0"/>
        <a:ea typeface="+mn-ea"/>
        <a:cs typeface="+mn-cs"/>
      </a:defRPr>
    </a:lvl6pPr>
    <a:lvl7pPr marL="2743200" algn="l" defTabSz="914400" rtl="0" eaLnBrk="1" latinLnBrk="0" hangingPunct="1">
      <a:defRPr kern="1200">
        <a:solidFill>
          <a:schemeClr val="tx1"/>
        </a:solidFill>
        <a:latin typeface="Gill Sans MT" panose="020B0502020104020203" pitchFamily="34" charset="0"/>
        <a:ea typeface="+mn-ea"/>
        <a:cs typeface="+mn-cs"/>
      </a:defRPr>
    </a:lvl7pPr>
    <a:lvl8pPr marL="3200400" algn="l" defTabSz="914400" rtl="0" eaLnBrk="1" latinLnBrk="0" hangingPunct="1">
      <a:defRPr kern="1200">
        <a:solidFill>
          <a:schemeClr val="tx1"/>
        </a:solidFill>
        <a:latin typeface="Gill Sans MT" panose="020B0502020104020203" pitchFamily="34" charset="0"/>
        <a:ea typeface="+mn-ea"/>
        <a:cs typeface="+mn-cs"/>
      </a:defRPr>
    </a:lvl8pPr>
    <a:lvl9pPr marL="3657600" algn="l" defTabSz="914400" rtl="0" eaLnBrk="1" latinLnBrk="0" hangingPunct="1">
      <a:defRPr kern="1200">
        <a:solidFill>
          <a:schemeClr val="tx1"/>
        </a:solidFill>
        <a:latin typeface="Gill Sans MT" panose="020B0502020104020203"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rgbClr val="FFFFFF"/>
          </a:solidFill>
        </a:fill>
      </a:tcStyle>
    </a:band2H>
    <a:firstCo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lastRow>
    <a:firstRow>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77" autoAdjust="0"/>
    <p:restoredTop sz="94726"/>
  </p:normalViewPr>
  <p:slideViewPr>
    <p:cSldViewPr snapToGrid="0">
      <p:cViewPr varScale="1">
        <p:scale>
          <a:sx n="78" d="100"/>
          <a:sy n="78" d="100"/>
        </p:scale>
        <p:origin x="133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Shape 100">
            <a:extLst>
              <a:ext uri="{FF2B5EF4-FFF2-40B4-BE49-F238E27FC236}">
                <a16:creationId xmlns:a16="http://schemas.microsoft.com/office/drawing/2014/main" id="{E5ECE281-18C5-C488-BC28-63121EFCB526}"/>
              </a:ext>
            </a:extLst>
          </p:cNvPr>
          <p:cNvSpPr>
            <a:spLocks noGrp="1" noRot="1" noChangeAspect="1" noChangeArrowheads="1"/>
          </p:cNvSpPr>
          <p:nvPr>
            <p:ph type="sldImg"/>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7171" name="Shape 101">
            <a:extLst>
              <a:ext uri="{FF2B5EF4-FFF2-40B4-BE49-F238E27FC236}">
                <a16:creationId xmlns:a16="http://schemas.microsoft.com/office/drawing/2014/main" id="{68CA7D1A-FA2C-7A57-30A3-11A297D2F5B5}"/>
              </a:ext>
            </a:extLst>
          </p:cNvPr>
          <p:cNvSpPr>
            <a:spLocks noGrp="1" noChangeArrowheads="1"/>
          </p:cNvSpPr>
          <p:nvPr>
            <p:ph type="body" sz="quarter" idx="1"/>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en-US" altLang="en-US">
              <a:sym typeface="Arial" panose="020B0604020202020204" pitchFamily="34" charset="0"/>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a:solidFill>
          <a:schemeClr val="tx1"/>
        </a:solidFill>
        <a:latin typeface="+mj-lt"/>
        <a:ea typeface="+mj-ea"/>
        <a:cs typeface="+mj-cs"/>
        <a:sym typeface="Arial" panose="020B0604020202020204" pitchFamily="34" charset="0"/>
      </a:defRPr>
    </a:lvl1pPr>
    <a:lvl2pPr marL="742950" indent="-285750" algn="l" rtl="0" eaLnBrk="0" fontAlgn="base" hangingPunct="0">
      <a:spcBef>
        <a:spcPct val="30000"/>
      </a:spcBef>
      <a:spcAft>
        <a:spcPct val="0"/>
      </a:spcAft>
      <a:defRPr sz="1200">
        <a:solidFill>
          <a:schemeClr val="tx1"/>
        </a:solidFill>
        <a:latin typeface="+mj-lt"/>
        <a:ea typeface="+mj-ea"/>
        <a:cs typeface="+mj-cs"/>
        <a:sym typeface="Arial" panose="020B0604020202020204" pitchFamily="34" charset="0"/>
      </a:defRPr>
    </a:lvl2pPr>
    <a:lvl3pPr marL="1143000" indent="-228600" algn="l" rtl="0" eaLnBrk="0" fontAlgn="base" hangingPunct="0">
      <a:spcBef>
        <a:spcPct val="30000"/>
      </a:spcBef>
      <a:spcAft>
        <a:spcPct val="0"/>
      </a:spcAft>
      <a:defRPr sz="1200">
        <a:solidFill>
          <a:schemeClr val="tx1"/>
        </a:solidFill>
        <a:latin typeface="+mj-lt"/>
        <a:ea typeface="+mj-ea"/>
        <a:cs typeface="+mj-cs"/>
        <a:sym typeface="Arial" panose="020B0604020202020204" pitchFamily="34" charset="0"/>
      </a:defRPr>
    </a:lvl3pPr>
    <a:lvl4pPr marL="1600200" indent="-228600" algn="l" rtl="0" eaLnBrk="0" fontAlgn="base" hangingPunct="0">
      <a:spcBef>
        <a:spcPct val="30000"/>
      </a:spcBef>
      <a:spcAft>
        <a:spcPct val="0"/>
      </a:spcAft>
      <a:defRPr sz="1200">
        <a:solidFill>
          <a:schemeClr val="tx1"/>
        </a:solidFill>
        <a:latin typeface="+mj-lt"/>
        <a:ea typeface="+mj-ea"/>
        <a:cs typeface="+mj-cs"/>
        <a:sym typeface="Arial" panose="020B0604020202020204" pitchFamily="34" charset="0"/>
      </a:defRPr>
    </a:lvl4pPr>
    <a:lvl5pPr marL="2057400" indent="-228600" algn="l" rtl="0" eaLnBrk="0" fontAlgn="base" hangingPunct="0">
      <a:spcBef>
        <a:spcPct val="30000"/>
      </a:spcBef>
      <a:spcAft>
        <a:spcPct val="0"/>
      </a:spcAft>
      <a:defRPr sz="1200">
        <a:solidFill>
          <a:schemeClr val="tx1"/>
        </a:solidFill>
        <a:latin typeface="+mj-lt"/>
        <a:ea typeface="+mj-ea"/>
        <a:cs typeface="+mj-cs"/>
        <a:sym typeface="Arial" panose="020B0604020202020204" pitchFamily="34" charset="0"/>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02240" y="2386744"/>
            <a:ext cx="6939520" cy="1645920"/>
          </a:xfrm>
          <a:solidFill>
            <a:srgbClr val="FFFFFF"/>
          </a:solidFill>
          <a:ln w="38100">
            <a:solidFill>
              <a:srgbClr val="404040"/>
            </a:solidFill>
          </a:ln>
        </p:spPr>
        <p:txBody>
          <a:bodyPr lIns="274320" rIns="274320" anchorCtr="1"/>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6">
            <a:extLst>
              <a:ext uri="{FF2B5EF4-FFF2-40B4-BE49-F238E27FC236}">
                <a16:creationId xmlns:a16="http://schemas.microsoft.com/office/drawing/2014/main" id="{333B4903-CF42-57DC-786E-83AC924EAAEA}"/>
              </a:ext>
            </a:extLst>
          </p:cNvPr>
          <p:cNvSpPr>
            <a:spLocks noGrp="1"/>
          </p:cNvSpPr>
          <p:nvPr>
            <p:ph type="dt" sz="half" idx="10"/>
          </p:nvPr>
        </p:nvSpPr>
        <p:spPr/>
        <p:txBody>
          <a:bodyPr/>
          <a:lstStyle>
            <a:lvl1pPr>
              <a:defRPr/>
            </a:lvl1pPr>
          </a:lstStyle>
          <a:p>
            <a:pPr>
              <a:defRPr/>
            </a:pPr>
            <a:fld id="{12601C74-9376-455F-8FC8-35DBD018CC7D}" type="datetimeFigureOut">
              <a:rPr lang="en-US"/>
              <a:pPr>
                <a:defRPr/>
              </a:pPr>
              <a:t>10/23/2026</a:t>
            </a:fld>
            <a:endParaRPr lang="en-US" dirty="0"/>
          </a:p>
        </p:txBody>
      </p:sp>
      <p:sp>
        <p:nvSpPr>
          <p:cNvPr id="5" name="Footer Placeholder 7">
            <a:extLst>
              <a:ext uri="{FF2B5EF4-FFF2-40B4-BE49-F238E27FC236}">
                <a16:creationId xmlns:a16="http://schemas.microsoft.com/office/drawing/2014/main" id="{E5EB07AA-7DD1-B042-69C4-4673943735C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8">
            <a:extLst>
              <a:ext uri="{FF2B5EF4-FFF2-40B4-BE49-F238E27FC236}">
                <a16:creationId xmlns:a16="http://schemas.microsoft.com/office/drawing/2014/main" id="{3D8B9548-C724-60CB-3305-64D96714A14C}"/>
              </a:ext>
            </a:extLst>
          </p:cNvPr>
          <p:cNvSpPr>
            <a:spLocks noGrp="1"/>
          </p:cNvSpPr>
          <p:nvPr>
            <p:ph type="sldNum" sz="quarter" idx="12"/>
          </p:nvPr>
        </p:nvSpPr>
        <p:spPr/>
        <p:txBody>
          <a:bodyPr/>
          <a:lstStyle>
            <a:lvl1pPr>
              <a:defRPr/>
            </a:lvl1pPr>
          </a:lstStyle>
          <a:p>
            <a:pPr>
              <a:defRPr/>
            </a:pPr>
            <a:fld id="{94709A15-A7BC-41B8-801B-2891720164E6}" type="slidenum">
              <a:rPr lang="en-IN"/>
              <a:pPr>
                <a:defRPr/>
              </a:pPr>
              <a:t>‹#›</a:t>
            </a:fld>
            <a:endParaRPr lang="en-IN"/>
          </a:p>
        </p:txBody>
      </p:sp>
    </p:spTree>
    <p:extLst>
      <p:ext uri="{BB962C8B-B14F-4D97-AF65-F5344CB8AC3E}">
        <p14:creationId xmlns:p14="http://schemas.microsoft.com/office/powerpoint/2010/main" val="18267728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2AE2E64-5EA2-98E8-0C97-1A97CB110D34}"/>
              </a:ext>
            </a:extLst>
          </p:cNvPr>
          <p:cNvSpPr>
            <a:spLocks noGrp="1"/>
          </p:cNvSpPr>
          <p:nvPr>
            <p:ph type="dt" sz="half" idx="10"/>
          </p:nvPr>
        </p:nvSpPr>
        <p:spPr/>
        <p:txBody>
          <a:bodyPr/>
          <a:lstStyle>
            <a:lvl1pPr>
              <a:defRPr/>
            </a:lvl1pPr>
          </a:lstStyle>
          <a:p>
            <a:pPr>
              <a:defRPr/>
            </a:pPr>
            <a:fld id="{AE861A2C-B2AF-41C2-8FEB-3154273CF2D5}" type="datetimeFigureOut">
              <a:rPr lang="en-US"/>
              <a:pPr>
                <a:defRPr/>
              </a:pPr>
              <a:t>10/23/2026</a:t>
            </a:fld>
            <a:endParaRPr lang="en-US" dirty="0"/>
          </a:p>
        </p:txBody>
      </p:sp>
      <p:sp>
        <p:nvSpPr>
          <p:cNvPr id="5" name="Footer Placeholder 4">
            <a:extLst>
              <a:ext uri="{FF2B5EF4-FFF2-40B4-BE49-F238E27FC236}">
                <a16:creationId xmlns:a16="http://schemas.microsoft.com/office/drawing/2014/main" id="{3CCB47EE-6EB6-5EC7-DB93-B6313FA5A2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C932D67-A58B-EA05-532F-8F26D460D4FD}"/>
              </a:ext>
            </a:extLst>
          </p:cNvPr>
          <p:cNvSpPr>
            <a:spLocks noGrp="1"/>
          </p:cNvSpPr>
          <p:nvPr>
            <p:ph type="sldNum" sz="quarter" idx="12"/>
          </p:nvPr>
        </p:nvSpPr>
        <p:spPr/>
        <p:txBody>
          <a:bodyPr/>
          <a:lstStyle>
            <a:lvl1pPr>
              <a:defRPr/>
            </a:lvl1pPr>
          </a:lstStyle>
          <a:p>
            <a:pPr>
              <a:defRPr/>
            </a:pPr>
            <a:fld id="{30935CAA-B408-46C3-931D-2617F5F7E0E4}" type="slidenum">
              <a:rPr lang="en-IN"/>
              <a:pPr>
                <a:defRPr/>
              </a:pPr>
              <a:t>‹#›</a:t>
            </a:fld>
            <a:endParaRPr lang="en-IN"/>
          </a:p>
        </p:txBody>
      </p:sp>
    </p:spTree>
    <p:extLst>
      <p:ext uri="{BB962C8B-B14F-4D97-AF65-F5344CB8AC3E}">
        <p14:creationId xmlns:p14="http://schemas.microsoft.com/office/powerpoint/2010/main" val="957857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6424" y="2386744"/>
            <a:ext cx="6940296" cy="1645920"/>
          </a:xfrm>
          <a:solidFill>
            <a:srgbClr val="FFFFFF"/>
          </a:solidFill>
          <a:ln w="38100">
            <a:solidFill>
              <a:srgbClr val="404040"/>
            </a:solidFill>
          </a:ln>
        </p:spPr>
        <p:txBody>
          <a:bodyPr lIns="274320" rIns="274320" anchorCtr="1"/>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6">
            <a:extLst>
              <a:ext uri="{FF2B5EF4-FFF2-40B4-BE49-F238E27FC236}">
                <a16:creationId xmlns:a16="http://schemas.microsoft.com/office/drawing/2014/main" id="{63099764-2552-0D98-BCCA-EBED401BF008}"/>
              </a:ext>
            </a:extLst>
          </p:cNvPr>
          <p:cNvSpPr>
            <a:spLocks noGrp="1"/>
          </p:cNvSpPr>
          <p:nvPr>
            <p:ph type="dt" sz="half" idx="10"/>
          </p:nvPr>
        </p:nvSpPr>
        <p:spPr/>
        <p:txBody>
          <a:bodyPr/>
          <a:lstStyle>
            <a:lvl1pPr>
              <a:defRPr/>
            </a:lvl1pPr>
          </a:lstStyle>
          <a:p>
            <a:pPr>
              <a:defRPr/>
            </a:pPr>
            <a:fld id="{3F08C46D-8D90-4BF7-B111-D8B978920838}" type="datetimeFigureOut">
              <a:rPr lang="en-US"/>
              <a:pPr>
                <a:defRPr/>
              </a:pPr>
              <a:t>10/23/2026</a:t>
            </a:fld>
            <a:endParaRPr lang="en-US" dirty="0"/>
          </a:p>
        </p:txBody>
      </p:sp>
      <p:sp>
        <p:nvSpPr>
          <p:cNvPr id="5" name="Footer Placeholder 7">
            <a:extLst>
              <a:ext uri="{FF2B5EF4-FFF2-40B4-BE49-F238E27FC236}">
                <a16:creationId xmlns:a16="http://schemas.microsoft.com/office/drawing/2014/main" id="{9056D9B4-4822-1FCF-CC6C-C62D1166D33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8">
            <a:extLst>
              <a:ext uri="{FF2B5EF4-FFF2-40B4-BE49-F238E27FC236}">
                <a16:creationId xmlns:a16="http://schemas.microsoft.com/office/drawing/2014/main" id="{BCC20F03-123F-ED96-4F66-24814AEFE646}"/>
              </a:ext>
            </a:extLst>
          </p:cNvPr>
          <p:cNvSpPr>
            <a:spLocks noGrp="1"/>
          </p:cNvSpPr>
          <p:nvPr>
            <p:ph type="sldNum" sz="quarter" idx="12"/>
          </p:nvPr>
        </p:nvSpPr>
        <p:spPr/>
        <p:txBody>
          <a:bodyPr/>
          <a:lstStyle>
            <a:lvl1pPr>
              <a:defRPr/>
            </a:lvl1pPr>
          </a:lstStyle>
          <a:p>
            <a:pPr>
              <a:defRPr/>
            </a:pPr>
            <a:fld id="{2A78B5BB-D99A-49D0-B453-D497FF79EE2E}" type="slidenum">
              <a:rPr lang="en-IN"/>
              <a:pPr>
                <a:defRPr/>
              </a:pPr>
              <a:t>‹#›</a:t>
            </a:fld>
            <a:endParaRPr lang="en-IN"/>
          </a:p>
        </p:txBody>
      </p:sp>
    </p:spTree>
    <p:extLst>
      <p:ext uri="{BB962C8B-B14F-4D97-AF65-F5344CB8AC3E}">
        <p14:creationId xmlns:p14="http://schemas.microsoft.com/office/powerpoint/2010/main" val="81852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1E01A404-55CF-8D19-D20F-3136F6CCC79B}"/>
              </a:ext>
            </a:extLst>
          </p:cNvPr>
          <p:cNvSpPr>
            <a:spLocks noGrp="1"/>
          </p:cNvSpPr>
          <p:nvPr>
            <p:ph type="dt" sz="half" idx="10"/>
          </p:nvPr>
        </p:nvSpPr>
        <p:spPr/>
        <p:txBody>
          <a:bodyPr/>
          <a:lstStyle>
            <a:lvl1pPr>
              <a:defRPr/>
            </a:lvl1pPr>
          </a:lstStyle>
          <a:p>
            <a:pPr>
              <a:defRPr/>
            </a:pPr>
            <a:fld id="{B62FED17-8819-421B-A82E-F51935F93249}" type="datetimeFigureOut">
              <a:rPr lang="en-US"/>
              <a:pPr>
                <a:defRPr/>
              </a:pPr>
              <a:t>10/23/2026</a:t>
            </a:fld>
            <a:endParaRPr lang="en-US" dirty="0"/>
          </a:p>
        </p:txBody>
      </p:sp>
      <p:sp>
        <p:nvSpPr>
          <p:cNvPr id="6" name="Footer Placeholder 4">
            <a:extLst>
              <a:ext uri="{FF2B5EF4-FFF2-40B4-BE49-F238E27FC236}">
                <a16:creationId xmlns:a16="http://schemas.microsoft.com/office/drawing/2014/main" id="{73B3AA9D-2E9D-3FB9-5355-ADCF68AC9BE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B720FC2-DC8B-1998-F0B9-FE28C4AECBAD}"/>
              </a:ext>
            </a:extLst>
          </p:cNvPr>
          <p:cNvSpPr>
            <a:spLocks noGrp="1"/>
          </p:cNvSpPr>
          <p:nvPr>
            <p:ph type="sldNum" sz="quarter" idx="12"/>
          </p:nvPr>
        </p:nvSpPr>
        <p:spPr/>
        <p:txBody>
          <a:bodyPr/>
          <a:lstStyle>
            <a:lvl1pPr>
              <a:defRPr/>
            </a:lvl1pPr>
          </a:lstStyle>
          <a:p>
            <a:pPr>
              <a:defRPr/>
            </a:pPr>
            <a:fld id="{2222C189-62A4-42BC-B104-6E0147961C87}" type="slidenum">
              <a:rPr lang="en-IN"/>
              <a:pPr>
                <a:defRPr/>
              </a:pPr>
              <a:t>‹#›</a:t>
            </a:fld>
            <a:endParaRPr lang="en-IN"/>
          </a:p>
        </p:txBody>
      </p:sp>
    </p:spTree>
    <p:extLst>
      <p:ext uri="{BB962C8B-B14F-4D97-AF65-F5344CB8AC3E}">
        <p14:creationId xmlns:p14="http://schemas.microsoft.com/office/powerpoint/2010/main" val="947505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itle 9"/>
          <p:cNvSpPr>
            <a:spLocks noGrp="1"/>
          </p:cNvSpPr>
          <p:nvPr>
            <p:ph type="title"/>
          </p:nvPr>
        </p:nvSpPr>
        <p:spPr/>
        <p:txBody>
          <a:bodyPr/>
          <a:lstStyle/>
          <a:p>
            <a:r>
              <a:rPr lang="en-US"/>
              <a:t>Click to edit Master title style</a:t>
            </a:r>
            <a:endParaRPr lang="en-US" dirty="0"/>
          </a:p>
        </p:txBody>
      </p:sp>
      <p:sp>
        <p:nvSpPr>
          <p:cNvPr id="2" name="Date Placeholder 3">
            <a:extLst>
              <a:ext uri="{FF2B5EF4-FFF2-40B4-BE49-F238E27FC236}">
                <a16:creationId xmlns:a16="http://schemas.microsoft.com/office/drawing/2014/main" id="{4E93EBF3-1968-D648-5A05-DD6443B746B6}"/>
              </a:ext>
            </a:extLst>
          </p:cNvPr>
          <p:cNvSpPr>
            <a:spLocks noGrp="1"/>
          </p:cNvSpPr>
          <p:nvPr>
            <p:ph type="dt" sz="half" idx="14"/>
          </p:nvPr>
        </p:nvSpPr>
        <p:spPr/>
        <p:txBody>
          <a:bodyPr/>
          <a:lstStyle>
            <a:lvl1pPr>
              <a:defRPr/>
            </a:lvl1pPr>
          </a:lstStyle>
          <a:p>
            <a:pPr>
              <a:defRPr/>
            </a:pPr>
            <a:fld id="{F85E57D6-F207-4A81-BB40-D6570334E33C}" type="datetimeFigureOut">
              <a:rPr lang="en-US"/>
              <a:pPr>
                <a:defRPr/>
              </a:pPr>
              <a:t>10/23/2026</a:t>
            </a:fld>
            <a:endParaRPr lang="en-US" dirty="0"/>
          </a:p>
        </p:txBody>
      </p:sp>
      <p:sp>
        <p:nvSpPr>
          <p:cNvPr id="5" name="Footer Placeholder 4">
            <a:extLst>
              <a:ext uri="{FF2B5EF4-FFF2-40B4-BE49-F238E27FC236}">
                <a16:creationId xmlns:a16="http://schemas.microsoft.com/office/drawing/2014/main" id="{AB1E46AF-79CF-3FA4-DAF2-787AA1805C33}"/>
              </a:ext>
            </a:extLst>
          </p:cNvPr>
          <p:cNvSpPr>
            <a:spLocks noGrp="1"/>
          </p:cNvSpPr>
          <p:nvPr>
            <p:ph type="ftr" sz="quarter" idx="15"/>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5959DEE-C00A-F40C-6C4C-C4BA72CEC047}"/>
              </a:ext>
            </a:extLst>
          </p:cNvPr>
          <p:cNvSpPr>
            <a:spLocks noGrp="1"/>
          </p:cNvSpPr>
          <p:nvPr>
            <p:ph type="sldNum" sz="quarter" idx="16"/>
          </p:nvPr>
        </p:nvSpPr>
        <p:spPr/>
        <p:txBody>
          <a:bodyPr/>
          <a:lstStyle>
            <a:lvl1pPr>
              <a:defRPr/>
            </a:lvl1pPr>
          </a:lstStyle>
          <a:p>
            <a:pPr>
              <a:defRPr/>
            </a:pPr>
            <a:fld id="{8C665837-7E70-429E-9C79-051A27883C59}" type="slidenum">
              <a:rPr lang="en-IN"/>
              <a:pPr>
                <a:defRPr/>
              </a:pPr>
              <a:t>‹#›</a:t>
            </a:fld>
            <a:endParaRPr lang="en-IN"/>
          </a:p>
        </p:txBody>
      </p:sp>
    </p:spTree>
    <p:extLst>
      <p:ext uri="{BB962C8B-B14F-4D97-AF65-F5344CB8AC3E}">
        <p14:creationId xmlns:p14="http://schemas.microsoft.com/office/powerpoint/2010/main" val="163723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6B1955C4-3AE4-EB35-0D19-944AAC5EE2E7}"/>
              </a:ext>
            </a:extLst>
          </p:cNvPr>
          <p:cNvSpPr>
            <a:spLocks noGrp="1"/>
          </p:cNvSpPr>
          <p:nvPr>
            <p:ph type="dt" sz="half" idx="10"/>
          </p:nvPr>
        </p:nvSpPr>
        <p:spPr/>
        <p:txBody>
          <a:bodyPr/>
          <a:lstStyle>
            <a:lvl1pPr>
              <a:defRPr/>
            </a:lvl1pPr>
          </a:lstStyle>
          <a:p>
            <a:pPr>
              <a:defRPr/>
            </a:pPr>
            <a:fld id="{2AE61842-050B-48DD-A46F-899AFDE7CD67}" type="datetimeFigureOut">
              <a:rPr lang="en-US"/>
              <a:pPr>
                <a:defRPr/>
              </a:pPr>
              <a:t>10/23/2026</a:t>
            </a:fld>
            <a:endParaRPr lang="en-US" dirty="0"/>
          </a:p>
        </p:txBody>
      </p:sp>
      <p:sp>
        <p:nvSpPr>
          <p:cNvPr id="4" name="Footer Placeholder 4">
            <a:extLst>
              <a:ext uri="{FF2B5EF4-FFF2-40B4-BE49-F238E27FC236}">
                <a16:creationId xmlns:a16="http://schemas.microsoft.com/office/drawing/2014/main" id="{D7BB0F1A-B71E-9FE8-0AF4-BCC0720884F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06C177E-DFF1-09DF-3EDF-807543713789}"/>
              </a:ext>
            </a:extLst>
          </p:cNvPr>
          <p:cNvSpPr>
            <a:spLocks noGrp="1"/>
          </p:cNvSpPr>
          <p:nvPr>
            <p:ph type="sldNum" sz="quarter" idx="12"/>
          </p:nvPr>
        </p:nvSpPr>
        <p:spPr/>
        <p:txBody>
          <a:bodyPr/>
          <a:lstStyle>
            <a:lvl1pPr>
              <a:defRPr/>
            </a:lvl1pPr>
          </a:lstStyle>
          <a:p>
            <a:pPr>
              <a:defRPr/>
            </a:pPr>
            <a:fld id="{BBAC0B7E-E4C5-4481-AABF-B37ED1F4C180}" type="slidenum">
              <a:rPr lang="en-IN"/>
              <a:pPr>
                <a:defRPr/>
              </a:pPr>
              <a:t>‹#›</a:t>
            </a:fld>
            <a:endParaRPr lang="en-IN"/>
          </a:p>
        </p:txBody>
      </p:sp>
    </p:spTree>
    <p:extLst>
      <p:ext uri="{BB962C8B-B14F-4D97-AF65-F5344CB8AC3E}">
        <p14:creationId xmlns:p14="http://schemas.microsoft.com/office/powerpoint/2010/main" val="3179060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E709719-D986-6361-6D80-47D8BB20F513}"/>
              </a:ext>
            </a:extLst>
          </p:cNvPr>
          <p:cNvSpPr>
            <a:spLocks noGrp="1"/>
          </p:cNvSpPr>
          <p:nvPr>
            <p:ph type="dt" sz="half" idx="10"/>
          </p:nvPr>
        </p:nvSpPr>
        <p:spPr/>
        <p:txBody>
          <a:bodyPr/>
          <a:lstStyle>
            <a:lvl1pPr>
              <a:defRPr/>
            </a:lvl1pPr>
          </a:lstStyle>
          <a:p>
            <a:pPr>
              <a:defRPr/>
            </a:pPr>
            <a:fld id="{989E5597-1408-408A-A8CF-7824CA41C276}" type="datetimeFigureOut">
              <a:rPr lang="en-US"/>
              <a:pPr>
                <a:defRPr/>
              </a:pPr>
              <a:t>10/23/2026</a:t>
            </a:fld>
            <a:endParaRPr lang="en-US" dirty="0"/>
          </a:p>
        </p:txBody>
      </p:sp>
      <p:sp>
        <p:nvSpPr>
          <p:cNvPr id="3" name="Footer Placeholder 4">
            <a:extLst>
              <a:ext uri="{FF2B5EF4-FFF2-40B4-BE49-F238E27FC236}">
                <a16:creationId xmlns:a16="http://schemas.microsoft.com/office/drawing/2014/main" id="{4BD16B7C-1FFD-0FCE-309F-59A5237C0BF1}"/>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F0CBF08-6AAA-ADD7-4600-11E361F6B18E}"/>
              </a:ext>
            </a:extLst>
          </p:cNvPr>
          <p:cNvSpPr>
            <a:spLocks noGrp="1"/>
          </p:cNvSpPr>
          <p:nvPr>
            <p:ph type="sldNum" sz="quarter" idx="12"/>
          </p:nvPr>
        </p:nvSpPr>
        <p:spPr/>
        <p:txBody>
          <a:bodyPr/>
          <a:lstStyle>
            <a:lvl1pPr>
              <a:defRPr/>
            </a:lvl1pPr>
          </a:lstStyle>
          <a:p>
            <a:pPr>
              <a:defRPr/>
            </a:pPr>
            <a:fld id="{CC0A1993-DF3D-4734-9650-A015510C3BFF}" type="slidenum">
              <a:rPr lang="en-IN"/>
              <a:pPr>
                <a:defRPr/>
              </a:pPr>
              <a:t>‹#›</a:t>
            </a:fld>
            <a:endParaRPr lang="en-IN"/>
          </a:p>
        </p:txBody>
      </p:sp>
    </p:spTree>
    <p:extLst>
      <p:ext uri="{BB962C8B-B14F-4D97-AF65-F5344CB8AC3E}">
        <p14:creationId xmlns:p14="http://schemas.microsoft.com/office/powerpoint/2010/main" val="3516353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8E12833-904A-DA47-10F6-8361E0952C0F}"/>
              </a:ext>
            </a:extLst>
          </p:cNvPr>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IN"/>
          </a:p>
        </p:txBody>
      </p:sp>
      <p:sp>
        <p:nvSpPr>
          <p:cNvPr id="2" name="Title 1"/>
          <p:cNvSpPr>
            <a:spLocks noGrp="1"/>
          </p:cNvSpPr>
          <p:nvPr>
            <p:ph type="title"/>
          </p:nvPr>
        </p:nvSpPr>
        <p:spPr>
          <a:xfrm>
            <a:off x="640703" y="2243829"/>
            <a:ext cx="3290594" cy="1141497"/>
          </a:xfrm>
          <a:solidFill>
            <a:srgbClr val="FFFFFF"/>
          </a:solidFill>
          <a:ln>
            <a:solidFill>
              <a:srgbClr val="404040"/>
            </a:solidFill>
          </a:ln>
        </p:spPr>
        <p:txBody>
          <a:bodyPr anchorCtr="1"/>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8">
            <a:extLst>
              <a:ext uri="{FF2B5EF4-FFF2-40B4-BE49-F238E27FC236}">
                <a16:creationId xmlns:a16="http://schemas.microsoft.com/office/drawing/2014/main" id="{899766F5-2352-8A6E-0D98-6D4FC91B1227}"/>
              </a:ext>
            </a:extLst>
          </p:cNvPr>
          <p:cNvSpPr>
            <a:spLocks noGrp="1"/>
          </p:cNvSpPr>
          <p:nvPr>
            <p:ph type="dt" sz="half" idx="10"/>
          </p:nvPr>
        </p:nvSpPr>
        <p:spPr/>
        <p:txBody>
          <a:bodyPr/>
          <a:lstStyle>
            <a:lvl1pPr>
              <a:defRPr/>
            </a:lvl1pPr>
          </a:lstStyle>
          <a:p>
            <a:pPr>
              <a:defRPr/>
            </a:pPr>
            <a:fld id="{9F85E23E-4656-4B1D-9363-C12BE50E15F9}" type="datetimeFigureOut">
              <a:rPr lang="en-US"/>
              <a:pPr>
                <a:defRPr/>
              </a:pPr>
              <a:t>10/23/2026</a:t>
            </a:fld>
            <a:endParaRPr lang="en-US" dirty="0"/>
          </a:p>
        </p:txBody>
      </p:sp>
      <p:sp>
        <p:nvSpPr>
          <p:cNvPr id="7" name="Footer Placeholder 9">
            <a:extLst>
              <a:ext uri="{FF2B5EF4-FFF2-40B4-BE49-F238E27FC236}">
                <a16:creationId xmlns:a16="http://schemas.microsoft.com/office/drawing/2014/main" id="{F2432240-65CD-E57C-E94E-CFF92B755391}"/>
              </a:ext>
            </a:extLst>
          </p:cNvPr>
          <p:cNvSpPr>
            <a:spLocks noGrp="1"/>
          </p:cNvSpPr>
          <p:nvPr>
            <p:ph type="ftr" sz="quarter" idx="11"/>
          </p:nvPr>
        </p:nvSpPr>
        <p:spPr>
          <a:xfrm>
            <a:off x="641350" y="6235700"/>
            <a:ext cx="3805238" cy="320675"/>
          </a:xfrm>
        </p:spPr>
        <p:txBody>
          <a:bodyPr>
            <a:normAutofit/>
          </a:bodyPr>
          <a:lstStyle>
            <a:lvl1pPr>
              <a:defRPr dirty="0">
                <a:solidFill>
                  <a:srgbClr val="FFFFFF">
                    <a:alpha val="70000"/>
                  </a:srgbClr>
                </a:solidFill>
              </a:defRPr>
            </a:lvl1pPr>
          </a:lstStyle>
          <a:p>
            <a:pPr>
              <a:defRPr/>
            </a:pPr>
            <a:endParaRPr lang="en-US"/>
          </a:p>
        </p:txBody>
      </p:sp>
      <p:sp>
        <p:nvSpPr>
          <p:cNvPr id="8" name="Slide Number Placeholder 10">
            <a:extLst>
              <a:ext uri="{FF2B5EF4-FFF2-40B4-BE49-F238E27FC236}">
                <a16:creationId xmlns:a16="http://schemas.microsoft.com/office/drawing/2014/main" id="{AC2B7ADF-6E0C-7333-0B42-F5EA0EC48631}"/>
              </a:ext>
            </a:extLst>
          </p:cNvPr>
          <p:cNvSpPr>
            <a:spLocks noGrp="1"/>
          </p:cNvSpPr>
          <p:nvPr>
            <p:ph type="sldNum" sz="quarter" idx="12"/>
          </p:nvPr>
        </p:nvSpPr>
        <p:spPr/>
        <p:txBody>
          <a:bodyPr/>
          <a:lstStyle>
            <a:lvl1pPr>
              <a:defRPr/>
            </a:lvl1pPr>
          </a:lstStyle>
          <a:p>
            <a:pPr>
              <a:defRPr/>
            </a:pPr>
            <a:fld id="{C7EF9892-65D4-4F30-8AC3-CDCDCB9C4A7C}" type="slidenum">
              <a:rPr lang="en-IN"/>
              <a:pPr>
                <a:defRPr/>
              </a:pPr>
              <a:t>‹#›</a:t>
            </a:fld>
            <a:endParaRPr lang="en-IN"/>
          </a:p>
        </p:txBody>
      </p:sp>
    </p:spTree>
    <p:extLst>
      <p:ext uri="{BB962C8B-B14F-4D97-AF65-F5344CB8AC3E}">
        <p14:creationId xmlns:p14="http://schemas.microsoft.com/office/powerpoint/2010/main" val="2643413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0062B8-F2B6-6FAA-4737-AA255AD04F47}"/>
              </a:ext>
            </a:extLst>
          </p:cNvPr>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IN"/>
          </a:p>
        </p:txBody>
      </p:sp>
      <p:sp>
        <p:nvSpPr>
          <p:cNvPr id="2" name="Title 1"/>
          <p:cNvSpPr>
            <a:spLocks noGrp="1"/>
          </p:cNvSpPr>
          <p:nvPr>
            <p:ph type="title"/>
          </p:nvPr>
        </p:nvSpPr>
        <p:spPr>
          <a:xfrm>
            <a:off x="640080" y="2243828"/>
            <a:ext cx="3291840" cy="1143000"/>
          </a:xfrm>
          <a:solidFill>
            <a:srgbClr val="FFFFFF"/>
          </a:solidFill>
          <a:ln>
            <a:solidFill>
              <a:srgbClr val="262626"/>
            </a:solidFill>
          </a:ln>
        </p:spPr>
        <p:txBody>
          <a:bodyP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0"/>
            <a:ext cx="4576573" cy="6858000"/>
          </a:xfrm>
          <a:solidFill>
            <a:schemeClr val="bg1"/>
          </a:solidFill>
        </p:spPr>
        <p:txBody>
          <a:bodyPr rtlCol="0">
            <a:normAutofit/>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62965" y="3549919"/>
            <a:ext cx="2846070" cy="2194037"/>
          </a:xfrm>
        </p:spPr>
        <p:txBody>
          <a:bodyPr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7">
            <a:extLst>
              <a:ext uri="{FF2B5EF4-FFF2-40B4-BE49-F238E27FC236}">
                <a16:creationId xmlns:a16="http://schemas.microsoft.com/office/drawing/2014/main" id="{4333E8C8-7FE0-971B-CC17-32128E82B59D}"/>
              </a:ext>
            </a:extLst>
          </p:cNvPr>
          <p:cNvSpPr>
            <a:spLocks noGrp="1"/>
          </p:cNvSpPr>
          <p:nvPr>
            <p:ph type="dt" sz="half" idx="10"/>
          </p:nvPr>
        </p:nvSpPr>
        <p:spPr/>
        <p:txBody>
          <a:bodyPr/>
          <a:lstStyle>
            <a:lvl1pPr>
              <a:defRPr smtClean="0">
                <a:solidFill>
                  <a:srgbClr val="FFFFFF"/>
                </a:solidFill>
                <a:effectLst>
                  <a:outerShdw blurRad="50800" dist="38100" dir="2700000" algn="tl" rotWithShape="0">
                    <a:prstClr val="black">
                      <a:alpha val="43000"/>
                    </a:prstClr>
                  </a:outerShdw>
                </a:effectLst>
              </a:defRPr>
            </a:lvl1pPr>
          </a:lstStyle>
          <a:p>
            <a:pPr>
              <a:defRPr/>
            </a:pPr>
            <a:fld id="{64E948D2-E2BD-4213-AE10-72DE62EE31D8}" type="datetimeFigureOut">
              <a:rPr lang="en-US"/>
              <a:pPr>
                <a:defRPr/>
              </a:pPr>
              <a:t>10/23/2026</a:t>
            </a:fld>
            <a:endParaRPr lang="en-US" dirty="0"/>
          </a:p>
        </p:txBody>
      </p:sp>
      <p:sp>
        <p:nvSpPr>
          <p:cNvPr id="7" name="Footer Placeholder 8">
            <a:extLst>
              <a:ext uri="{FF2B5EF4-FFF2-40B4-BE49-F238E27FC236}">
                <a16:creationId xmlns:a16="http://schemas.microsoft.com/office/drawing/2014/main" id="{5580F007-3FB1-22B4-8E56-1CE150D4F2D7}"/>
              </a:ext>
            </a:extLst>
          </p:cNvPr>
          <p:cNvSpPr>
            <a:spLocks noGrp="1"/>
          </p:cNvSpPr>
          <p:nvPr>
            <p:ph type="ftr" sz="quarter" idx="11"/>
          </p:nvPr>
        </p:nvSpPr>
        <p:spPr>
          <a:xfrm>
            <a:off x="639763" y="6235700"/>
            <a:ext cx="3803650" cy="320675"/>
          </a:xfrm>
        </p:spPr>
        <p:txBody>
          <a:bodyPr>
            <a:normAutofit/>
          </a:bodyPr>
          <a:lstStyle>
            <a:lvl1pPr>
              <a:defRPr dirty="0">
                <a:solidFill>
                  <a:srgbClr val="FFFFFF">
                    <a:alpha val="70000"/>
                  </a:srgbClr>
                </a:solidFill>
              </a:defRPr>
            </a:lvl1pPr>
          </a:lstStyle>
          <a:p>
            <a:pPr>
              <a:defRPr/>
            </a:pPr>
            <a:endParaRPr lang="en-US"/>
          </a:p>
        </p:txBody>
      </p:sp>
      <p:sp>
        <p:nvSpPr>
          <p:cNvPr id="8" name="Slide Number Placeholder 9">
            <a:extLst>
              <a:ext uri="{FF2B5EF4-FFF2-40B4-BE49-F238E27FC236}">
                <a16:creationId xmlns:a16="http://schemas.microsoft.com/office/drawing/2014/main" id="{0BBCE777-98D2-3629-7821-410FBB0F3661}"/>
              </a:ext>
            </a:extLst>
          </p:cNvPr>
          <p:cNvSpPr>
            <a:spLocks noGrp="1"/>
          </p:cNvSpPr>
          <p:nvPr>
            <p:ph type="sldNum" sz="quarter" idx="12"/>
          </p:nvPr>
        </p:nvSpPr>
        <p:spPr/>
        <p:txBody>
          <a:bodyPr/>
          <a:lstStyle>
            <a:lvl1pPr>
              <a:defRPr/>
            </a:lvl1pPr>
          </a:lstStyle>
          <a:p>
            <a:pPr>
              <a:defRPr/>
            </a:pPr>
            <a:fld id="{BBC7CB04-FC34-4D42-B231-2AE19E95F566}" type="slidenum">
              <a:rPr lang="en-IN"/>
              <a:pPr>
                <a:defRPr/>
              </a:pPr>
              <a:t>‹#›</a:t>
            </a:fld>
            <a:endParaRPr lang="en-IN"/>
          </a:p>
        </p:txBody>
      </p:sp>
    </p:spTree>
    <p:extLst>
      <p:ext uri="{BB962C8B-B14F-4D97-AF65-F5344CB8AC3E}">
        <p14:creationId xmlns:p14="http://schemas.microsoft.com/office/powerpoint/2010/main" val="4070721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2E4B0C-FC31-42CE-7022-84EE08A6E517}"/>
              </a:ext>
            </a:extLst>
          </p:cNvPr>
          <p:cNvSpPr>
            <a:spLocks noGrp="1"/>
          </p:cNvSpPr>
          <p:nvPr>
            <p:ph type="dt" sz="half" idx="10"/>
          </p:nvPr>
        </p:nvSpPr>
        <p:spPr/>
        <p:txBody>
          <a:bodyPr/>
          <a:lstStyle>
            <a:lvl1pPr>
              <a:defRPr/>
            </a:lvl1pPr>
          </a:lstStyle>
          <a:p>
            <a:pPr>
              <a:defRPr/>
            </a:pPr>
            <a:fld id="{B9CB9A4A-75A9-4007-B15F-9D404E93460F}" type="datetimeFigureOut">
              <a:rPr lang="en-US"/>
              <a:pPr>
                <a:defRPr/>
              </a:pPr>
              <a:t>10/23/2026</a:t>
            </a:fld>
            <a:endParaRPr lang="en-US" dirty="0"/>
          </a:p>
        </p:txBody>
      </p:sp>
      <p:sp>
        <p:nvSpPr>
          <p:cNvPr id="5" name="Footer Placeholder 4">
            <a:extLst>
              <a:ext uri="{FF2B5EF4-FFF2-40B4-BE49-F238E27FC236}">
                <a16:creationId xmlns:a16="http://schemas.microsoft.com/office/drawing/2014/main" id="{F70CB3D9-3F9D-1185-031E-04F7ADBB751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ED0AE5C-CB4A-F1E0-44F3-21B60ED056EB}"/>
              </a:ext>
            </a:extLst>
          </p:cNvPr>
          <p:cNvSpPr>
            <a:spLocks noGrp="1"/>
          </p:cNvSpPr>
          <p:nvPr>
            <p:ph type="sldNum" sz="quarter" idx="12"/>
          </p:nvPr>
        </p:nvSpPr>
        <p:spPr/>
        <p:txBody>
          <a:bodyPr/>
          <a:lstStyle>
            <a:lvl1pPr>
              <a:defRPr/>
            </a:lvl1pPr>
          </a:lstStyle>
          <a:p>
            <a:pPr>
              <a:defRPr/>
            </a:pPr>
            <a:fld id="{2165D473-4F1B-4019-8432-E6120D938143}" type="slidenum">
              <a:rPr lang="en-IN"/>
              <a:pPr>
                <a:defRPr/>
              </a:pPr>
              <a:t>‹#›</a:t>
            </a:fld>
            <a:endParaRPr lang="en-IN"/>
          </a:p>
        </p:txBody>
      </p:sp>
    </p:spTree>
    <p:extLst>
      <p:ext uri="{BB962C8B-B14F-4D97-AF65-F5344CB8AC3E}">
        <p14:creationId xmlns:p14="http://schemas.microsoft.com/office/powerpoint/2010/main" val="2898024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45DFEF-78C8-3475-1182-053760976421}"/>
              </a:ext>
            </a:extLst>
          </p:cNvPr>
          <p:cNvSpPr>
            <a:spLocks noGrp="1"/>
          </p:cNvSpPr>
          <p:nvPr>
            <p:ph type="dt" sz="half" idx="10"/>
          </p:nvPr>
        </p:nvSpPr>
        <p:spPr/>
        <p:txBody>
          <a:bodyPr/>
          <a:lstStyle>
            <a:lvl1pPr>
              <a:defRPr/>
            </a:lvl1pPr>
          </a:lstStyle>
          <a:p>
            <a:pPr>
              <a:defRPr/>
            </a:pPr>
            <a:fld id="{73540A7F-B474-400B-A466-57AA1078A654}" type="datetimeFigureOut">
              <a:rPr lang="en-US"/>
              <a:pPr>
                <a:defRPr/>
              </a:pPr>
              <a:t>10/23/2026</a:t>
            </a:fld>
            <a:endParaRPr lang="en-US" dirty="0"/>
          </a:p>
        </p:txBody>
      </p:sp>
      <p:sp>
        <p:nvSpPr>
          <p:cNvPr id="5" name="Footer Placeholder 4">
            <a:extLst>
              <a:ext uri="{FF2B5EF4-FFF2-40B4-BE49-F238E27FC236}">
                <a16:creationId xmlns:a16="http://schemas.microsoft.com/office/drawing/2014/main" id="{67200D77-5444-467B-9CA2-5BC4BAF244D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6DDC9CC-B27C-713A-0A2E-1101E73C9B09}"/>
              </a:ext>
            </a:extLst>
          </p:cNvPr>
          <p:cNvSpPr>
            <a:spLocks noGrp="1"/>
          </p:cNvSpPr>
          <p:nvPr>
            <p:ph type="sldNum" sz="quarter" idx="12"/>
          </p:nvPr>
        </p:nvSpPr>
        <p:spPr/>
        <p:txBody>
          <a:bodyPr/>
          <a:lstStyle>
            <a:lvl1pPr>
              <a:defRPr/>
            </a:lvl1pPr>
          </a:lstStyle>
          <a:p>
            <a:pPr>
              <a:defRPr/>
            </a:pPr>
            <a:fld id="{ED1737F4-A7A0-42DE-8FF2-269A9C5AB9D1}" type="slidenum">
              <a:rPr lang="en-IN"/>
              <a:pPr>
                <a:defRPr/>
              </a:pPr>
              <a:t>‹#›</a:t>
            </a:fld>
            <a:endParaRPr lang="en-IN"/>
          </a:p>
        </p:txBody>
      </p:sp>
    </p:spTree>
    <p:extLst>
      <p:ext uri="{BB962C8B-B14F-4D97-AF65-F5344CB8AC3E}">
        <p14:creationId xmlns:p14="http://schemas.microsoft.com/office/powerpoint/2010/main" val="2545108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EEE248-05E4-493D-D0C5-C58B437366C7}"/>
              </a:ext>
            </a:extLst>
          </p:cNvPr>
          <p:cNvSpPr>
            <a:spLocks noGrp="1"/>
          </p:cNvSpPr>
          <p:nvPr>
            <p:ph type="title"/>
          </p:nvPr>
        </p:nvSpPr>
        <p:spPr>
          <a:xfrm>
            <a:off x="1606550" y="965200"/>
            <a:ext cx="5937250" cy="118745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4381D611-6F39-082F-0FEC-4FCFE5D3BF05}"/>
              </a:ext>
            </a:extLst>
          </p:cNvPr>
          <p:cNvSpPr>
            <a:spLocks noGrp="1" noChangeArrowheads="1"/>
          </p:cNvSpPr>
          <p:nvPr>
            <p:ph type="body" idx="1"/>
          </p:nvPr>
        </p:nvSpPr>
        <p:spPr bwMode="auto">
          <a:xfrm>
            <a:off x="1606550" y="2638425"/>
            <a:ext cx="5937250"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60C988DF-9BBC-5817-3F59-2F61EC1CE651}"/>
              </a:ext>
            </a:extLst>
          </p:cNvPr>
          <p:cNvSpPr>
            <a:spLocks noGrp="1"/>
          </p:cNvSpPr>
          <p:nvPr>
            <p:ph type="dt" sz="half" idx="2"/>
          </p:nvPr>
        </p:nvSpPr>
        <p:spPr>
          <a:xfrm>
            <a:off x="5978525" y="6238875"/>
            <a:ext cx="2065338" cy="323850"/>
          </a:xfrm>
          <a:prstGeom prst="rect">
            <a:avLst/>
          </a:prstGeom>
        </p:spPr>
        <p:txBody>
          <a:bodyPr vert="horz" lIns="91440" tIns="45720" rIns="91440" bIns="45720" rtlCol="0" anchor="ctr"/>
          <a:lstStyle>
            <a:lvl1pPr algn="r" eaLnBrk="1" fontAlgn="auto" hangingPunct="1">
              <a:spcBef>
                <a:spcPts val="0"/>
              </a:spcBef>
              <a:spcAft>
                <a:spcPts val="0"/>
              </a:spcAft>
              <a:defRPr sz="1000" smtClean="0">
                <a:solidFill>
                  <a:schemeClr val="tx1">
                    <a:alpha val="70000"/>
                  </a:schemeClr>
                </a:solidFill>
                <a:latin typeface="+mn-lt"/>
              </a:defRPr>
            </a:lvl1pPr>
          </a:lstStyle>
          <a:p>
            <a:pPr>
              <a:defRPr/>
            </a:pPr>
            <a:fld id="{7BEE063A-0695-41B7-8AEE-EA681CA0DCE5}" type="datetimeFigureOut">
              <a:rPr lang="en-US"/>
              <a:pPr>
                <a:defRPr/>
              </a:pPr>
              <a:t>10/23/2026</a:t>
            </a:fld>
            <a:endParaRPr lang="en-US" dirty="0"/>
          </a:p>
        </p:txBody>
      </p:sp>
      <p:sp>
        <p:nvSpPr>
          <p:cNvPr id="5" name="Footer Placeholder 4">
            <a:extLst>
              <a:ext uri="{FF2B5EF4-FFF2-40B4-BE49-F238E27FC236}">
                <a16:creationId xmlns:a16="http://schemas.microsoft.com/office/drawing/2014/main" id="{F51FD852-CE59-E0E4-1A12-7B99AE3F84A2}"/>
              </a:ext>
            </a:extLst>
          </p:cNvPr>
          <p:cNvSpPr>
            <a:spLocks noGrp="1"/>
          </p:cNvSpPr>
          <p:nvPr>
            <p:ph type="ftr" sz="quarter" idx="3"/>
          </p:nvPr>
        </p:nvSpPr>
        <p:spPr>
          <a:xfrm>
            <a:off x="1101725" y="6235700"/>
            <a:ext cx="4557713" cy="320675"/>
          </a:xfrm>
          <a:prstGeom prst="rect">
            <a:avLst/>
          </a:prstGeom>
        </p:spPr>
        <p:txBody>
          <a:bodyPr vert="horz" lIns="91440" tIns="45720" rIns="91440" bIns="45720" rtlCol="0" anchor="ctr"/>
          <a:lstStyle>
            <a:lvl1pPr algn="l" eaLnBrk="1" fontAlgn="auto" hangingPunct="1">
              <a:spcBef>
                <a:spcPts val="0"/>
              </a:spcBef>
              <a:spcAft>
                <a:spcPts val="0"/>
              </a:spcAft>
              <a:defRPr sz="1000" dirty="0">
                <a:solidFill>
                  <a:schemeClr val="tx1">
                    <a:alpha val="70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345A637-7E77-597E-E00A-81F10775CB00}"/>
              </a:ext>
            </a:extLst>
          </p:cNvPr>
          <p:cNvSpPr>
            <a:spLocks noGrp="1"/>
          </p:cNvSpPr>
          <p:nvPr>
            <p:ph type="sldNum" sz="quarter" idx="4"/>
          </p:nvPr>
        </p:nvSpPr>
        <p:spPr>
          <a:xfrm>
            <a:off x="8240713" y="6218238"/>
            <a:ext cx="365125" cy="365125"/>
          </a:xfrm>
          <a:prstGeom prst="ellipse">
            <a:avLst/>
          </a:prstGeom>
          <a:solidFill>
            <a:srgbClr val="1D1D1D">
              <a:alpha val="69804"/>
            </a:srgbClr>
          </a:solidFill>
        </p:spPr>
        <p:txBody>
          <a:bodyPr vert="horz" lIns="18288" tIns="45720" rIns="18288" bIns="45720" rtlCol="0" anchor="ctr">
            <a:noAutofit/>
          </a:bodyPr>
          <a:lstStyle>
            <a:lvl1pPr algn="ctr" eaLnBrk="1" fontAlgn="auto" hangingPunct="1">
              <a:spcBef>
                <a:spcPts val="0"/>
              </a:spcBef>
              <a:spcAft>
                <a:spcPts val="0"/>
              </a:spcAft>
              <a:defRPr sz="1100" spc="0" baseline="0" smtClean="0">
                <a:solidFill>
                  <a:srgbClr val="FFFFFF"/>
                </a:solidFill>
                <a:latin typeface="+mn-lt"/>
              </a:defRPr>
            </a:lvl1pPr>
          </a:lstStyle>
          <a:p>
            <a:pPr>
              <a:defRPr/>
            </a:pPr>
            <a:fld id="{CE3122D5-2B18-42F0-B469-0B15587A2E0F}"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723" r:id="rId1"/>
    <p:sldLayoutId id="2147483716" r:id="rId2"/>
    <p:sldLayoutId id="2147483724" r:id="rId3"/>
    <p:sldLayoutId id="2147483717" r:id="rId4"/>
    <p:sldLayoutId id="2147483718" r:id="rId5"/>
    <p:sldLayoutId id="2147483719" r:id="rId6"/>
    <p:sldLayoutId id="2147483720" r:id="rId7"/>
    <p:sldLayoutId id="2147483725" r:id="rId8"/>
    <p:sldLayoutId id="2147483726" r:id="rId9"/>
    <p:sldLayoutId id="2147483721" r:id="rId10"/>
    <p:sldLayoutId id="2147483722" r:id="rId11"/>
  </p:sldLayoutIdLst>
  <p:txStyles>
    <p:titleStyle>
      <a:lvl1pPr algn="ctr" rtl="0" eaLnBrk="1" fontAlgn="base" hangingPunct="1">
        <a:lnSpc>
          <a:spcPct val="90000"/>
        </a:lnSpc>
        <a:spcBef>
          <a:spcPct val="0"/>
        </a:spcBef>
        <a:spcAft>
          <a:spcPct val="0"/>
        </a:spcAft>
        <a:defRPr sz="2600" kern="1200" cap="all" spc="200">
          <a:solidFill>
            <a:srgbClr val="262626"/>
          </a:solidFill>
          <a:latin typeface="+mj-lt"/>
          <a:ea typeface="+mj-ea"/>
          <a:cs typeface="+mj-cs"/>
        </a:defRPr>
      </a:lvl1pPr>
      <a:lvl2pPr algn="ctr" rtl="0" eaLnBrk="1" fontAlgn="base" hangingPunct="1">
        <a:lnSpc>
          <a:spcPct val="90000"/>
        </a:lnSpc>
        <a:spcBef>
          <a:spcPct val="0"/>
        </a:spcBef>
        <a:spcAft>
          <a:spcPct val="0"/>
        </a:spcAft>
        <a:defRPr sz="2600">
          <a:solidFill>
            <a:srgbClr val="262626"/>
          </a:solidFill>
          <a:latin typeface="Gill Sans MT" panose="020B0502020104020203" pitchFamily="34" charset="0"/>
        </a:defRPr>
      </a:lvl2pPr>
      <a:lvl3pPr algn="ctr" rtl="0" eaLnBrk="1" fontAlgn="base" hangingPunct="1">
        <a:lnSpc>
          <a:spcPct val="90000"/>
        </a:lnSpc>
        <a:spcBef>
          <a:spcPct val="0"/>
        </a:spcBef>
        <a:spcAft>
          <a:spcPct val="0"/>
        </a:spcAft>
        <a:defRPr sz="2600">
          <a:solidFill>
            <a:srgbClr val="262626"/>
          </a:solidFill>
          <a:latin typeface="Gill Sans MT" panose="020B0502020104020203" pitchFamily="34" charset="0"/>
        </a:defRPr>
      </a:lvl3pPr>
      <a:lvl4pPr algn="ctr" rtl="0" eaLnBrk="1" fontAlgn="base" hangingPunct="1">
        <a:lnSpc>
          <a:spcPct val="90000"/>
        </a:lnSpc>
        <a:spcBef>
          <a:spcPct val="0"/>
        </a:spcBef>
        <a:spcAft>
          <a:spcPct val="0"/>
        </a:spcAft>
        <a:defRPr sz="2600">
          <a:solidFill>
            <a:srgbClr val="262626"/>
          </a:solidFill>
          <a:latin typeface="Gill Sans MT" panose="020B0502020104020203" pitchFamily="34" charset="0"/>
        </a:defRPr>
      </a:lvl4pPr>
      <a:lvl5pPr algn="ctr" rtl="0" eaLnBrk="1" fontAlgn="base" hangingPunct="1">
        <a:lnSpc>
          <a:spcPct val="90000"/>
        </a:lnSpc>
        <a:spcBef>
          <a:spcPct val="0"/>
        </a:spcBef>
        <a:spcAft>
          <a:spcPct val="0"/>
        </a:spcAft>
        <a:defRPr sz="2600">
          <a:solidFill>
            <a:srgbClr val="262626"/>
          </a:solidFill>
          <a:latin typeface="Gill Sans MT" panose="020B0502020104020203" pitchFamily="34" charset="0"/>
        </a:defRPr>
      </a:lvl5pPr>
      <a:lvl6pPr marL="457200" algn="ctr" rtl="0" eaLnBrk="1" fontAlgn="base" hangingPunct="1">
        <a:lnSpc>
          <a:spcPct val="90000"/>
        </a:lnSpc>
        <a:spcBef>
          <a:spcPct val="0"/>
        </a:spcBef>
        <a:spcAft>
          <a:spcPct val="0"/>
        </a:spcAft>
        <a:defRPr sz="2600">
          <a:solidFill>
            <a:srgbClr val="262626"/>
          </a:solidFill>
          <a:latin typeface="Gill Sans MT" panose="020B0502020104020203" pitchFamily="34" charset="0"/>
        </a:defRPr>
      </a:lvl6pPr>
      <a:lvl7pPr marL="914400" algn="ctr" rtl="0" eaLnBrk="1" fontAlgn="base" hangingPunct="1">
        <a:lnSpc>
          <a:spcPct val="90000"/>
        </a:lnSpc>
        <a:spcBef>
          <a:spcPct val="0"/>
        </a:spcBef>
        <a:spcAft>
          <a:spcPct val="0"/>
        </a:spcAft>
        <a:defRPr sz="2600">
          <a:solidFill>
            <a:srgbClr val="262626"/>
          </a:solidFill>
          <a:latin typeface="Gill Sans MT" panose="020B0502020104020203" pitchFamily="34" charset="0"/>
        </a:defRPr>
      </a:lvl7pPr>
      <a:lvl8pPr marL="1371600" algn="ctr" rtl="0" eaLnBrk="1" fontAlgn="base" hangingPunct="1">
        <a:lnSpc>
          <a:spcPct val="90000"/>
        </a:lnSpc>
        <a:spcBef>
          <a:spcPct val="0"/>
        </a:spcBef>
        <a:spcAft>
          <a:spcPct val="0"/>
        </a:spcAft>
        <a:defRPr sz="2600">
          <a:solidFill>
            <a:srgbClr val="262626"/>
          </a:solidFill>
          <a:latin typeface="Gill Sans MT" panose="020B0502020104020203" pitchFamily="34" charset="0"/>
        </a:defRPr>
      </a:lvl8pPr>
      <a:lvl9pPr marL="1828800" algn="ctr" rtl="0" eaLnBrk="1" fontAlgn="base" hangingPunct="1">
        <a:lnSpc>
          <a:spcPct val="90000"/>
        </a:lnSpc>
        <a:spcBef>
          <a:spcPct val="0"/>
        </a:spcBef>
        <a:spcAft>
          <a:spcPct val="0"/>
        </a:spcAft>
        <a:defRPr sz="2600">
          <a:solidFill>
            <a:srgbClr val="262626"/>
          </a:solidFill>
          <a:latin typeface="Gill Sans MT" panose="020B0502020104020203" pitchFamily="34" charset="0"/>
        </a:defRPr>
      </a:lvl9pPr>
    </p:titleStyle>
    <p:bodyStyle>
      <a:lvl1pPr marL="228600" indent="-228600" algn="l" rtl="0" eaLnBrk="1" fontAlgn="base" hangingPunct="1">
        <a:spcBef>
          <a:spcPts val="1000"/>
        </a:spcBef>
        <a:spcAft>
          <a:spcPct val="0"/>
        </a:spcAft>
        <a:buClr>
          <a:schemeClr val="accent2"/>
        </a:buClr>
        <a:buFont typeface="Arial" panose="020B0604020202020204" pitchFamily="34" charset="0"/>
        <a:buChar char="•"/>
        <a:defRPr kern="1200">
          <a:solidFill>
            <a:srgbClr val="262626"/>
          </a:solidFill>
          <a:latin typeface="+mn-lt"/>
          <a:ea typeface="+mn-ea"/>
          <a:cs typeface="+mn-cs"/>
        </a:defRPr>
      </a:lvl1pPr>
      <a:lvl2pPr marL="457200" indent="-228600" algn="l" rtl="0" eaLnBrk="1" fontAlgn="base" hangingPunct="1">
        <a:spcBef>
          <a:spcPts val="1000"/>
        </a:spcBef>
        <a:spcAft>
          <a:spcPct val="0"/>
        </a:spcAft>
        <a:buClr>
          <a:schemeClr val="accent2"/>
        </a:buClr>
        <a:buFont typeface="Arial" panose="020B0604020202020204" pitchFamily="34" charset="0"/>
        <a:buChar char="•"/>
        <a:defRPr sz="1600" kern="1200">
          <a:solidFill>
            <a:srgbClr val="262626"/>
          </a:solidFill>
          <a:latin typeface="+mn-lt"/>
          <a:ea typeface="+mn-ea"/>
          <a:cs typeface="+mn-cs"/>
        </a:defRPr>
      </a:lvl2pPr>
      <a:lvl3pPr marL="685800" indent="-228600" algn="l" rtl="0" eaLnBrk="1" fontAlgn="base" hangingPunct="1">
        <a:spcBef>
          <a:spcPts val="1000"/>
        </a:spcBef>
        <a:spcAft>
          <a:spcPct val="0"/>
        </a:spcAft>
        <a:buClr>
          <a:schemeClr val="accent2"/>
        </a:buClr>
        <a:buFont typeface="Arial" panose="020B0604020202020204" pitchFamily="34" charset="0"/>
        <a:buChar char="•"/>
        <a:defRPr sz="1600" kern="1200">
          <a:solidFill>
            <a:srgbClr val="262626"/>
          </a:solidFill>
          <a:latin typeface="+mn-lt"/>
          <a:ea typeface="+mn-ea"/>
          <a:cs typeface="+mn-cs"/>
        </a:defRPr>
      </a:lvl3pPr>
      <a:lvl4pPr marL="914400" indent="-228600" algn="l" rtl="0" eaLnBrk="1" fontAlgn="base" hangingPunct="1">
        <a:spcBef>
          <a:spcPts val="1000"/>
        </a:spcBef>
        <a:spcAft>
          <a:spcPct val="0"/>
        </a:spcAft>
        <a:buClr>
          <a:schemeClr val="accent2"/>
        </a:buClr>
        <a:buFont typeface="Arial" panose="020B0604020202020204" pitchFamily="34" charset="0"/>
        <a:buChar char="•"/>
        <a:defRPr sz="1600" kern="1200">
          <a:solidFill>
            <a:srgbClr val="262626"/>
          </a:solidFill>
          <a:latin typeface="+mn-lt"/>
          <a:ea typeface="+mn-ea"/>
          <a:cs typeface="+mn-cs"/>
        </a:defRPr>
      </a:lvl4pPr>
      <a:lvl5pPr marL="1143000" indent="-228600" algn="l" rtl="0" eaLnBrk="1" fontAlgn="base" hangingPunct="1">
        <a:spcBef>
          <a:spcPts val="1000"/>
        </a:spcBef>
        <a:spcAft>
          <a:spcPct val="0"/>
        </a:spcAft>
        <a:buClr>
          <a:schemeClr val="accent2"/>
        </a:buClr>
        <a:buFont typeface="Arial" panose="020B0604020202020204" pitchFamily="34" charset="0"/>
        <a:buChar char="•"/>
        <a:defRPr sz="1600" kern="1200">
          <a:solidFill>
            <a:srgbClr val="262626"/>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5B0C55-A5F0-A5D2-87EA-90D1A7A9E98C}"/>
              </a:ext>
            </a:extLst>
          </p:cNvPr>
          <p:cNvSpPr txBox="1"/>
          <p:nvPr/>
        </p:nvSpPr>
        <p:spPr>
          <a:xfrm>
            <a:off x="931606" y="2830000"/>
            <a:ext cx="7551174" cy="707886"/>
          </a:xfrm>
          <a:prstGeom prst="rect">
            <a:avLst/>
          </a:prstGeom>
          <a:noFill/>
        </p:spPr>
        <p:txBody>
          <a:bodyPr wrap="square">
            <a:spAutoFit/>
          </a:bodyPr>
          <a:lstStyle/>
          <a:p>
            <a:pPr algn="ctr" eaLnBrk="1" fontAlgn="auto" hangingPunct="1">
              <a:spcBef>
                <a:spcPts val="0"/>
              </a:spcBef>
              <a:spcAft>
                <a:spcPts val="0"/>
              </a:spcAft>
              <a:defRPr/>
            </a:pPr>
            <a:r>
              <a:rPr lang="en-IN" sz="4000" b="1" dirty="0">
                <a:latin typeface="Times New Roman" panose="02020603050405020304" pitchFamily="18" charset="0"/>
                <a:cs typeface="Times New Roman" panose="02020603050405020304" pitchFamily="18" charset="0"/>
              </a:rPr>
              <a:t> MAJOR PROJECT REVIEW-2</a:t>
            </a:r>
            <a:endParaRPr lang="en-US" sz="4000" b="1" dirty="0">
              <a:ln w="1905"/>
              <a:solidFill>
                <a:srgbClr val="F78122"/>
              </a:solidFill>
              <a:effectLst>
                <a:innerShdw blurRad="69850" dist="43180" dir="5400000">
                  <a:srgbClr val="000000">
                    <a:alpha val="65000"/>
                  </a:srgbClr>
                </a:innerShdw>
              </a:effectLst>
              <a:latin typeface="Times New Roman" panose="02020603050405020304" pitchFamily="18" charset="0"/>
              <a:ea typeface="ADLaM Display" panose="02010000000000000000" pitchFamily="2" charset="77"/>
              <a:cs typeface="Times New Roman" panose="02020603050405020304" pitchFamily="18" charset="0"/>
            </a:endParaRPr>
          </a:p>
        </p:txBody>
      </p:sp>
      <p:graphicFrame>
        <p:nvGraphicFramePr>
          <p:cNvPr id="5" name="Table 4">
            <a:extLst>
              <a:ext uri="{FF2B5EF4-FFF2-40B4-BE49-F238E27FC236}">
                <a16:creationId xmlns:a16="http://schemas.microsoft.com/office/drawing/2014/main" id="{3ED37690-AEAD-85EA-79AE-4734CCDFF79C}"/>
              </a:ext>
            </a:extLst>
          </p:cNvPr>
          <p:cNvGraphicFramePr>
            <a:graphicFrameLocks noGrp="1"/>
          </p:cNvGraphicFramePr>
          <p:nvPr>
            <p:extLst>
              <p:ext uri="{D42A27DB-BD31-4B8C-83A1-F6EECF244321}">
                <p14:modId xmlns:p14="http://schemas.microsoft.com/office/powerpoint/2010/main" val="828475689"/>
              </p:ext>
            </p:extLst>
          </p:nvPr>
        </p:nvGraphicFramePr>
        <p:xfrm>
          <a:off x="990600" y="381000"/>
          <a:ext cx="7162800" cy="1600200"/>
        </p:xfrm>
        <a:graphic>
          <a:graphicData uri="http://schemas.openxmlformats.org/drawingml/2006/table">
            <a:tbl>
              <a:tblPr>
                <a:tableStyleId>{2D5ABB26-0587-4C30-8999-92F81FD0307C}</a:tableStyleId>
              </a:tblPr>
              <a:tblGrid>
                <a:gridCol w="7162800">
                  <a:extLst>
                    <a:ext uri="{9D8B030D-6E8A-4147-A177-3AD203B41FA5}">
                      <a16:colId xmlns:a16="http://schemas.microsoft.com/office/drawing/2014/main" val="20000"/>
                    </a:ext>
                  </a:extLst>
                </a:gridCol>
              </a:tblGrid>
              <a:tr h="533400">
                <a:tc>
                  <a:txBody>
                    <a:bodyPr/>
                    <a:lstStyle/>
                    <a:p>
                      <a:pPr algn="ctr" rtl="0" fontAlgn="b"/>
                      <a:r>
                        <a:rPr lang="en-US" sz="2000" b="1" i="0" dirty="0">
                          <a:solidFill>
                            <a:srgbClr val="003D5B"/>
                          </a:solidFill>
                          <a:latin typeface="Times New Roman" panose="02020603050405020304" pitchFamily="18" charset="0"/>
                          <a:cs typeface="Times New Roman" panose="02020603050405020304" pitchFamily="18" charset="0"/>
                        </a:rPr>
                        <a:t>CMR COLLEGE OF ENGINEERING &amp; TECHNOLOGY</a:t>
                      </a:r>
                    </a:p>
                  </a:txBody>
                  <a:tcPr marL="9199" marR="9199" marT="6133" marB="6133" anchor="b"/>
                </a:tc>
                <a:extLst>
                  <a:ext uri="{0D108BD9-81ED-4DB2-BD59-A6C34878D82A}">
                    <a16:rowId xmlns:a16="http://schemas.microsoft.com/office/drawing/2014/main" val="10000"/>
                  </a:ext>
                </a:extLst>
              </a:tr>
              <a:tr h="533400">
                <a:tc>
                  <a:txBody>
                    <a:bodyPr/>
                    <a:lstStyle/>
                    <a:p>
                      <a:pPr algn="ctr" rtl="0" fontAlgn="b"/>
                      <a:r>
                        <a:rPr lang="en-US" sz="2000" b="1" i="0" dirty="0" err="1">
                          <a:solidFill>
                            <a:srgbClr val="003D5B"/>
                          </a:solidFill>
                          <a:latin typeface="Times New Roman" panose="02020603050405020304" pitchFamily="18" charset="0"/>
                          <a:cs typeface="Times New Roman" panose="02020603050405020304" pitchFamily="18" charset="0"/>
                        </a:rPr>
                        <a:t>Kandlakoya</a:t>
                      </a:r>
                      <a:r>
                        <a:rPr lang="en-US" sz="2000" b="1" i="0" dirty="0">
                          <a:solidFill>
                            <a:srgbClr val="003D5B"/>
                          </a:solidFill>
                          <a:latin typeface="Times New Roman" panose="02020603050405020304" pitchFamily="18" charset="0"/>
                          <a:cs typeface="Times New Roman" panose="02020603050405020304" pitchFamily="18" charset="0"/>
                        </a:rPr>
                        <a:t>, </a:t>
                      </a:r>
                      <a:r>
                        <a:rPr lang="en-US" sz="2000" b="1" i="0" dirty="0" err="1">
                          <a:solidFill>
                            <a:srgbClr val="003D5B"/>
                          </a:solidFill>
                          <a:latin typeface="Times New Roman" panose="02020603050405020304" pitchFamily="18" charset="0"/>
                          <a:cs typeface="Times New Roman" panose="02020603050405020304" pitchFamily="18" charset="0"/>
                        </a:rPr>
                        <a:t>Medchal</a:t>
                      </a:r>
                      <a:r>
                        <a:rPr lang="en-US" sz="2000" b="1" i="0" dirty="0">
                          <a:solidFill>
                            <a:srgbClr val="003D5B"/>
                          </a:solidFill>
                          <a:latin typeface="Times New Roman" panose="02020603050405020304" pitchFamily="18" charset="0"/>
                          <a:cs typeface="Times New Roman" panose="02020603050405020304" pitchFamily="18" charset="0"/>
                        </a:rPr>
                        <a:t>, Hyderabad - 501401</a:t>
                      </a:r>
                    </a:p>
                  </a:txBody>
                  <a:tcPr marL="9199" marR="9199" marT="6133" marB="6133" anchor="b"/>
                </a:tc>
                <a:extLst>
                  <a:ext uri="{0D108BD9-81ED-4DB2-BD59-A6C34878D82A}">
                    <a16:rowId xmlns:a16="http://schemas.microsoft.com/office/drawing/2014/main" val="10001"/>
                  </a:ext>
                </a:extLst>
              </a:tr>
              <a:tr h="533400">
                <a:tc>
                  <a:txBody>
                    <a:bodyPr/>
                    <a:lstStyle/>
                    <a:p>
                      <a:pPr algn="ctr" rtl="0" fontAlgn="b"/>
                      <a:r>
                        <a:rPr lang="en-US" sz="2000" b="1" i="0" dirty="0">
                          <a:solidFill>
                            <a:srgbClr val="003D5B"/>
                          </a:solidFill>
                          <a:latin typeface="Times New Roman" panose="02020603050405020304" pitchFamily="18" charset="0"/>
                          <a:cs typeface="Times New Roman" panose="02020603050405020304" pitchFamily="18" charset="0"/>
                        </a:rPr>
                        <a:t>Department of CSE(</a:t>
                      </a:r>
                      <a:r>
                        <a:rPr lang="en-US" sz="2000" b="1" i="0" baseline="0" dirty="0">
                          <a:solidFill>
                            <a:srgbClr val="003D5B"/>
                          </a:solidFill>
                          <a:latin typeface="Times New Roman" panose="02020603050405020304" pitchFamily="18" charset="0"/>
                          <a:cs typeface="Times New Roman" panose="02020603050405020304" pitchFamily="18" charset="0"/>
                        </a:rPr>
                        <a:t>Data Science)</a:t>
                      </a:r>
                      <a:endParaRPr lang="en-US" sz="2000" b="1" i="0" dirty="0">
                        <a:solidFill>
                          <a:srgbClr val="003D5B"/>
                        </a:solidFill>
                        <a:latin typeface="Times New Roman" panose="02020603050405020304" pitchFamily="18" charset="0"/>
                        <a:cs typeface="Times New Roman" panose="02020603050405020304" pitchFamily="18" charset="0"/>
                      </a:endParaRPr>
                    </a:p>
                  </a:txBody>
                  <a:tcPr marL="9199" marR="9199" marT="6133" marB="6133" anchor="b"/>
                </a:tc>
                <a:extLst>
                  <a:ext uri="{0D108BD9-81ED-4DB2-BD59-A6C34878D82A}">
                    <a16:rowId xmlns:a16="http://schemas.microsoft.com/office/drawing/2014/main" val="10002"/>
                  </a:ext>
                </a:extLst>
              </a:tr>
            </a:tbl>
          </a:graphicData>
        </a:graphic>
      </p:graphicFrame>
      <p:sp>
        <p:nvSpPr>
          <p:cNvPr id="8199"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a:extLst>
              <a:ext uri="{FF2B5EF4-FFF2-40B4-BE49-F238E27FC236}">
                <a16:creationId xmlns:a16="http://schemas.microsoft.com/office/drawing/2014/main" id="{36D5749D-111B-9D3E-4E39-85571E01ED87}"/>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p>
        </p:txBody>
      </p:sp>
      <p:pic>
        <p:nvPicPr>
          <p:cNvPr id="8200" name="Picture 4" descr="CMR College of Pharmacy updated... - CMR College of Pharmacy">
            <a:extLst>
              <a:ext uri="{FF2B5EF4-FFF2-40B4-BE49-F238E27FC236}">
                <a16:creationId xmlns:a16="http://schemas.microsoft.com/office/drawing/2014/main" id="{DAF975CE-56B3-5234-3A90-D9DD68AE87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3986213"/>
            <a:ext cx="3200400" cy="282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AutoShape 6" descr="CMRCET HYDERABAD - 2021 Admission Process, Ranking, Reviews, Affiliations">
            <a:extLst>
              <a:ext uri="{FF2B5EF4-FFF2-40B4-BE49-F238E27FC236}">
                <a16:creationId xmlns:a16="http://schemas.microsoft.com/office/drawing/2014/main" id="{81410782-7CC5-0BCD-9E7A-99CE4ECAF630}"/>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CustomShape 3">
            <a:extLst>
              <a:ext uri="{FF2B5EF4-FFF2-40B4-BE49-F238E27FC236}">
                <a16:creationId xmlns:a16="http://schemas.microsoft.com/office/drawing/2014/main" id="{8B06634E-06D5-91F9-104F-D853BA095A45}"/>
              </a:ext>
            </a:extLst>
          </p:cNvPr>
          <p:cNvSpPr txBox="1">
            <a:spLocks noChangeArrowheads="1"/>
          </p:cNvSpPr>
          <p:nvPr/>
        </p:nvSpPr>
        <p:spPr bwMode="auto">
          <a:xfrm>
            <a:off x="463550" y="1285875"/>
            <a:ext cx="83677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4999" tIns="44999" rIns="44999" bIns="44999">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buSzPct val="100000"/>
              <a:buFont typeface="Arial" panose="020B0604020202020204" pitchFamily="34" charset="0"/>
              <a:buChar char="•"/>
            </a:pPr>
            <a:endParaRPr lang="en-US" altLang="en-US" sz="2000" b="1">
              <a:latin typeface="Times New Roman" panose="02020603050405020304" pitchFamily="18" charset="0"/>
              <a:ea typeface="Avenir Next Regular"/>
              <a:cs typeface="Times New Roman" panose="02020603050405020304" pitchFamily="18" charset="0"/>
              <a:sym typeface="Avenir Next Regular"/>
            </a:endParaRPr>
          </a:p>
        </p:txBody>
      </p:sp>
      <p:sp>
        <p:nvSpPr>
          <p:cNvPr id="2" name="TextBox 2">
            <a:extLst>
              <a:ext uri="{FF2B5EF4-FFF2-40B4-BE49-F238E27FC236}">
                <a16:creationId xmlns:a16="http://schemas.microsoft.com/office/drawing/2014/main" id="{C43536A3-5F1F-C362-8E7E-41268C20EB32}"/>
              </a:ext>
            </a:extLst>
          </p:cNvPr>
          <p:cNvSpPr txBox="1"/>
          <p:nvPr/>
        </p:nvSpPr>
        <p:spPr>
          <a:xfrm>
            <a:off x="5823926" y="5279923"/>
            <a:ext cx="3398732" cy="1113585"/>
          </a:xfrm>
          <a:prstGeom prst="rect">
            <a:avLst/>
          </a:prstGeom>
          <a:ln w="12700">
            <a:miter lim="400000"/>
          </a:ln>
        </p:spPr>
        <p:txBody>
          <a:bodyPr wrap="square" lIns="45718" tIns="45718" rIns="45718" bIns="45718">
            <a:spAutoFit/>
          </a:bodyPr>
          <a:lstStyle/>
          <a:p>
            <a:r>
              <a:rPr lang="en-IN" sz="1600" b="1" dirty="0">
                <a:latin typeface="Times New Roman" panose="02020603050405020304" charset="0"/>
                <a:cs typeface="Times New Roman" panose="02020603050405020304" charset="0"/>
              </a:rPr>
              <a:t>Name:                    Roll No:</a:t>
            </a:r>
          </a:p>
          <a:p>
            <a:pPr algn="just"/>
            <a:r>
              <a:rPr lang="en-US" sz="1600" dirty="0">
                <a:latin typeface="Times New Roman" panose="02020603050405020304" charset="0"/>
                <a:cs typeface="Times New Roman" panose="02020603050405020304" charset="0"/>
              </a:rPr>
              <a:t>1. </a:t>
            </a:r>
            <a:r>
              <a:rPr lang="en-US" sz="1600" dirty="0" err="1">
                <a:latin typeface="Times New Roman" panose="02020603050405020304" charset="0"/>
                <a:cs typeface="Times New Roman" panose="02020603050405020304" charset="0"/>
              </a:rPr>
              <a:t>S.Thirumala</a:t>
            </a:r>
            <a:r>
              <a:rPr lang="en-US" sz="1600" dirty="0">
                <a:latin typeface="Times New Roman" panose="02020603050405020304" charset="0"/>
                <a:cs typeface="Times New Roman" panose="02020603050405020304" charset="0"/>
              </a:rPr>
              <a:t> </a:t>
            </a:r>
            <a:r>
              <a:rPr lang="en-US" altLang="en-IN" sz="1600" dirty="0">
                <a:latin typeface="Times New Roman" panose="02020603050405020304" charset="0"/>
                <a:cs typeface="Times New Roman" panose="02020603050405020304" charset="0"/>
              </a:rPr>
              <a:t>          </a:t>
            </a:r>
            <a:r>
              <a:rPr lang="en-IN" sz="1600" dirty="0">
                <a:latin typeface="Times New Roman" panose="02020603050405020304" charset="0"/>
                <a:cs typeface="Times New Roman" panose="02020603050405020304" charset="0"/>
              </a:rPr>
              <a:t>23H51A67H6</a:t>
            </a:r>
          </a:p>
          <a:p>
            <a:pPr algn="just"/>
            <a:r>
              <a:rPr lang="en-US" sz="1600" dirty="0">
                <a:latin typeface="Times New Roman" panose="02020603050405020304"/>
                <a:cs typeface="Times New Roman" panose="02020603050405020304"/>
              </a:rPr>
              <a:t>2. </a:t>
            </a:r>
            <a:r>
              <a:rPr lang="en-US" sz="1600" dirty="0" err="1">
                <a:latin typeface="Times New Roman" panose="02020603050405020304"/>
                <a:cs typeface="Times New Roman" panose="02020603050405020304"/>
              </a:rPr>
              <a:t>K.BhanuSri</a:t>
            </a:r>
            <a:r>
              <a:rPr lang="en-US" sz="160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          24H55A6709  </a:t>
            </a:r>
          </a:p>
          <a:p>
            <a:pPr algn="just"/>
            <a:r>
              <a:rPr lang="en-IN" sz="1600" dirty="0">
                <a:latin typeface="Times New Roman" panose="02020603050405020304"/>
                <a:cs typeface="Times New Roman" panose="02020603050405020304"/>
              </a:rPr>
              <a:t>3. </a:t>
            </a:r>
            <a:r>
              <a:rPr lang="en-IN" sz="1600" dirty="0" err="1">
                <a:latin typeface="Times New Roman" panose="02020603050405020304"/>
                <a:cs typeface="Times New Roman" panose="02020603050405020304"/>
              </a:rPr>
              <a:t>B.Vivek</a:t>
            </a:r>
            <a:r>
              <a:rPr lang="en-IN" sz="1600" dirty="0">
                <a:latin typeface="Times New Roman" panose="02020603050405020304"/>
                <a:cs typeface="Times New Roman" panose="02020603050405020304"/>
              </a:rPr>
              <a:t>             23H51A67D2</a:t>
            </a:r>
            <a:endParaRPr lang="en-US" altLang="en-IN" sz="1600" dirty="0">
              <a:latin typeface="Times New Roman" panose="02020603050405020304"/>
              <a:cs typeface="Times New Roman" panose="02020603050405020304"/>
            </a:endParaRPr>
          </a:p>
        </p:txBody>
      </p:sp>
      <p:sp>
        <p:nvSpPr>
          <p:cNvPr id="9220" name="TextBox 1">
            <a:extLst>
              <a:ext uri="{FF2B5EF4-FFF2-40B4-BE49-F238E27FC236}">
                <a16:creationId xmlns:a16="http://schemas.microsoft.com/office/drawing/2014/main" id="{02E4D6BD-E3D6-D613-16B6-BDB80065731C}"/>
              </a:ext>
            </a:extLst>
          </p:cNvPr>
          <p:cNvSpPr txBox="1">
            <a:spLocks noChangeArrowheads="1"/>
          </p:cNvSpPr>
          <p:nvPr/>
        </p:nvSpPr>
        <p:spPr bwMode="auto">
          <a:xfrm>
            <a:off x="-149115" y="1841771"/>
            <a:ext cx="9088438" cy="2400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45718" tIns="45718" rIns="45718" bIns="45718">
            <a:spAutoFit/>
          </a:bodyPr>
          <a:lstStyle>
            <a:lvl1pPr marL="342900" indent="-342900">
              <a:defRPr>
                <a:solidFill>
                  <a:schemeClr val="tx1"/>
                </a:solidFill>
                <a:latin typeface="Gill Sans MT" panose="020B0502020104020203" pitchFamily="34" charset="0"/>
              </a:defRPr>
            </a:lvl1pPr>
            <a:lvl2pPr indent="22860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lvl="1" eaLnBrk="1" hangingPunct="1">
              <a:spcBef>
                <a:spcPts val="1200"/>
              </a:spcBef>
            </a:pPr>
            <a:r>
              <a:rPr lang="en-IN" sz="2800" b="1" dirty="0"/>
              <a:t>Rasa-Based NLP Chatbot for Disease Awareness and Preventive Healthcare Information: An Offline, Privacy-Focused System for Instant Symptom Recognition and Safe Health Guidance.</a:t>
            </a:r>
          </a:p>
          <a:p>
            <a:pPr lvl="1" eaLnBrk="1" hangingPunct="1">
              <a:spcBef>
                <a:spcPts val="1200"/>
              </a:spcBef>
            </a:pPr>
            <a:endParaRPr lang="en-IN" altLang="en-US" sz="2800" b="1"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9221" name="TextBox 3">
            <a:extLst>
              <a:ext uri="{FF2B5EF4-FFF2-40B4-BE49-F238E27FC236}">
                <a16:creationId xmlns:a16="http://schemas.microsoft.com/office/drawing/2014/main" id="{01C3B6E8-E00B-F668-F13A-CEC54CBFE2BD}"/>
              </a:ext>
            </a:extLst>
          </p:cNvPr>
          <p:cNvSpPr txBox="1">
            <a:spLocks noChangeArrowheads="1"/>
          </p:cNvSpPr>
          <p:nvPr/>
        </p:nvSpPr>
        <p:spPr bwMode="auto">
          <a:xfrm>
            <a:off x="450483" y="3454400"/>
            <a:ext cx="5741987" cy="195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lnSpc>
                <a:spcPct val="150000"/>
              </a:lnSpc>
              <a:spcBef>
                <a:spcPts val="400"/>
              </a:spcBef>
            </a:pPr>
            <a:r>
              <a:rPr lang="en-US" altLang="en-US" sz="2600" b="1" dirty="0">
                <a:solidFill>
                  <a:srgbClr val="C00000"/>
                </a:solidFill>
                <a:latin typeface="Times New Roman" panose="02020603050405020304" pitchFamily="18" charset="0"/>
                <a:ea typeface="Avenir Next Regular"/>
                <a:cs typeface="Times New Roman" panose="02020603050405020304" pitchFamily="18" charset="0"/>
                <a:sym typeface="Avenir Next Regular"/>
              </a:rPr>
              <a:t>Under esteemed guidance of</a:t>
            </a:r>
          </a:p>
          <a:p>
            <a:r>
              <a:rPr lang="en-US" sz="2400" b="1" dirty="0" err="1">
                <a:latin typeface="Times New Roman" panose="02020603050405020304" pitchFamily="18" charset="0"/>
                <a:cs typeface="Times New Roman" panose="02020603050405020304" pitchFamily="18" charset="0"/>
              </a:rPr>
              <a:t>Mr.K.Sharath</a:t>
            </a:r>
            <a:r>
              <a:rPr lang="en-US" sz="2400" b="1" dirty="0">
                <a:latin typeface="Times New Roman" panose="02020603050405020304" pitchFamily="18" charset="0"/>
                <a:cs typeface="Times New Roman" panose="02020603050405020304" pitchFamily="18" charset="0"/>
              </a:rPr>
              <a:t> Kumar</a:t>
            </a:r>
            <a:endParaRPr lang="en-IN" sz="2400" b="1" dirty="0">
              <a:latin typeface="Times New Roman" panose="02020603050405020304" pitchFamily="18" charset="0"/>
              <a:cs typeface="Times New Roman" panose="02020603050405020304" pitchFamily="18" charset="0"/>
            </a:endParaRPr>
          </a:p>
          <a:p>
            <a:pPr eaLnBrk="1" hangingPunct="1">
              <a:spcBef>
                <a:spcPts val="400"/>
              </a:spcBef>
            </a:pPr>
            <a:r>
              <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Assistant. Professor </a:t>
            </a:r>
          </a:p>
          <a:p>
            <a:pPr eaLnBrk="1" hangingPunct="1">
              <a:spcBef>
                <a:spcPts val="400"/>
              </a:spcBef>
            </a:pPr>
            <a:r>
              <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Dept. of CS</a:t>
            </a:r>
            <a:r>
              <a:rPr lang="en-IN"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E(Data Science)</a:t>
            </a: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pic>
        <p:nvPicPr>
          <p:cNvPr id="9222" name="Picture 7" descr="A group of logos on a white background&#10;&#10;AI-generated content may be incorrect.">
            <a:extLst>
              <a:ext uri="{FF2B5EF4-FFF2-40B4-BE49-F238E27FC236}">
                <a16:creationId xmlns:a16="http://schemas.microsoft.com/office/drawing/2014/main" id="{75D8B7E8-F5D6-4EA0-E0DE-F60EFA8A8A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8" y="0"/>
            <a:ext cx="9088438" cy="139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CustomShape 1">
            <a:extLst>
              <a:ext uri="{FF2B5EF4-FFF2-40B4-BE49-F238E27FC236}">
                <a16:creationId xmlns:a16="http://schemas.microsoft.com/office/drawing/2014/main" id="{E985710B-270E-CA5A-F9FF-A07721859B34}"/>
              </a:ext>
            </a:extLst>
          </p:cNvPr>
          <p:cNvSpPr>
            <a:spLocks noChangeArrowheads="1"/>
          </p:cNvSpPr>
          <p:nvPr/>
        </p:nvSpPr>
        <p:spPr bwMode="auto">
          <a:xfrm>
            <a:off x="381000" y="877094"/>
            <a:ext cx="8382000" cy="74613"/>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0243" name="TextBox 4">
            <a:extLst>
              <a:ext uri="{FF2B5EF4-FFF2-40B4-BE49-F238E27FC236}">
                <a16:creationId xmlns:a16="http://schemas.microsoft.com/office/drawing/2014/main" id="{2FD5CEC4-8B39-67D9-66EB-F16EC0CB804F}"/>
              </a:ext>
            </a:extLst>
          </p:cNvPr>
          <p:cNvSpPr txBox="1">
            <a:spLocks noChangeArrowheads="1"/>
          </p:cNvSpPr>
          <p:nvPr/>
        </p:nvSpPr>
        <p:spPr bwMode="auto">
          <a:xfrm>
            <a:off x="3661813" y="300832"/>
            <a:ext cx="1776412"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r>
              <a:rPr lang="en-US" altLang="en-US" sz="3200" b="1" dirty="0">
                <a:latin typeface="Times New Roman" panose="02020603050405020304" pitchFamily="18" charset="0"/>
                <a:ea typeface="Avenir Next Regular"/>
                <a:cs typeface="Times New Roman" panose="02020603050405020304" pitchFamily="18" charset="0"/>
                <a:sym typeface="Avenir Next Regular"/>
              </a:rPr>
              <a:t>Abstract</a:t>
            </a:r>
          </a:p>
        </p:txBody>
      </p:sp>
      <p:sp>
        <p:nvSpPr>
          <p:cNvPr id="3" name="TextBox 2">
            <a:extLst>
              <a:ext uri="{FF2B5EF4-FFF2-40B4-BE49-F238E27FC236}">
                <a16:creationId xmlns:a16="http://schemas.microsoft.com/office/drawing/2014/main" id="{10C4099F-6884-B976-F099-85A6A55369AF}"/>
              </a:ext>
            </a:extLst>
          </p:cNvPr>
          <p:cNvSpPr txBox="1"/>
          <p:nvPr/>
        </p:nvSpPr>
        <p:spPr>
          <a:xfrm>
            <a:off x="304800" y="1329814"/>
            <a:ext cx="8691716" cy="5078313"/>
          </a:xfrm>
          <a:prstGeom prst="rect">
            <a:avLst/>
          </a:prstGeom>
          <a:noFill/>
        </p:spPr>
        <p:txBody>
          <a:bodyPr wrap="square">
            <a:spAutoFit/>
          </a:bodyPr>
          <a:lstStyle/>
          <a:p>
            <a:pPr algn="just">
              <a:lnSpc>
                <a:spcPct val="100000"/>
              </a:lnSpc>
            </a:pPr>
            <a:r>
              <a:rPr lang="en-US" dirty="0">
                <a:latin typeface="Times New Roman" panose="02020603050405020304" pitchFamily="18" charset="0"/>
                <a:cs typeface="Times New Roman" panose="02020603050405020304" pitchFamily="18" charset="0"/>
              </a:rPr>
              <a:t>Access to reliable healthcare information remains limited in rural and semi-urban areas, leading to delayed diagnosis and poor health awareness. This project develops an AI-powered chatbot that provides instant information about common diseases, symptoms, prevention measures, and nearby healthcare resources. The chatbot uses NLP for intent recognition and entity extraction, built using frameworks like Rasa a custom BERT-based intent classifier, powered by a structured knowledge base of diseases and precautions sourced from WHO/ICMR guidelines. The system supports multi-turn conversations, allowing users to describe symptoms and receive probable disease information along with a recommendation to consult a doctor (avoiding direct diagnosis for safety). Multilingual support is incorporated using translation APIs to make the chatbot accessible to non-English speaking users, a critical requirement for rural outreach. The chatbot is deployed via a web interface and can be integrated with messaging platforms like WhatsApp or Telegram for wider accessibility. The backend uses Python with Rasa for NLU, while the frontend is a chat widget built with React or a Telegram bot API integration. User interactions are logged with privacy safeguards to continuously improve intent recognition accuracy. Evaluation metrics include intent classification accuracy and response relevance. This project showcases skills in conversational AI and NLP pipelines, highly valued in AI/ML placements and reflecting real-world social impact.</a:t>
            </a:r>
            <a:endParaRPr lang="en-IN"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CustomShape 1">
            <a:extLst>
              <a:ext uri="{FF2B5EF4-FFF2-40B4-BE49-F238E27FC236}">
                <a16:creationId xmlns:a16="http://schemas.microsoft.com/office/drawing/2014/main" id="{4EF5E8D2-4375-48D1-D19D-1B5691C1FF2B}"/>
              </a:ext>
            </a:extLst>
          </p:cNvPr>
          <p:cNvSpPr>
            <a:spLocks noChangeArrowheads="1"/>
          </p:cNvSpPr>
          <p:nvPr/>
        </p:nvSpPr>
        <p:spPr bwMode="auto">
          <a:xfrm>
            <a:off x="457200" y="10668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1267" name="CustomShape 2">
            <a:extLst>
              <a:ext uri="{FF2B5EF4-FFF2-40B4-BE49-F238E27FC236}">
                <a16:creationId xmlns:a16="http://schemas.microsoft.com/office/drawing/2014/main" id="{2D0C0A89-E22D-02F5-8954-6475CEA1C332}"/>
              </a:ext>
            </a:extLst>
          </p:cNvPr>
          <p:cNvSpPr txBox="1">
            <a:spLocks noChangeArrowheads="1"/>
          </p:cNvSpPr>
          <p:nvPr/>
        </p:nvSpPr>
        <p:spPr bwMode="auto">
          <a:xfrm>
            <a:off x="3206750" y="488950"/>
            <a:ext cx="2578100" cy="58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4999" tIns="44999" rIns="44999" bIns="44999">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r>
              <a:rPr lang="en-US" altLang="en-US" sz="3200" b="1" dirty="0">
                <a:latin typeface="Times New Roman" panose="02020603050405020304" pitchFamily="18" charset="0"/>
                <a:ea typeface="Avenir Next Regular"/>
                <a:cs typeface="Times New Roman" panose="02020603050405020304" pitchFamily="18" charset="0"/>
                <a:sym typeface="Avenir Next Regular"/>
              </a:rPr>
              <a:t>Introduction</a:t>
            </a:r>
          </a:p>
        </p:txBody>
      </p:sp>
      <p:sp>
        <p:nvSpPr>
          <p:cNvPr id="4" name="Rectangle 6">
            <a:extLst>
              <a:ext uri="{FF2B5EF4-FFF2-40B4-BE49-F238E27FC236}">
                <a16:creationId xmlns:a16="http://schemas.microsoft.com/office/drawing/2014/main" id="{9403ABA8-DDA7-197E-4998-C137312017EE}"/>
              </a:ext>
            </a:extLst>
          </p:cNvPr>
          <p:cNvSpPr>
            <a:spLocks noChangeArrowheads="1"/>
          </p:cNvSpPr>
          <p:nvPr/>
        </p:nvSpPr>
        <p:spPr bwMode="auto">
          <a:xfrm>
            <a:off x="457200" y="1489611"/>
            <a:ext cx="769033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Access to reliable healthcare information remains limited in rural and semi-urban areas, leading to delayed diagnosis and poor health awareness. </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HealthBot</a:t>
            </a:r>
            <a:r>
              <a:rPr lang="en-IN" dirty="0">
                <a:latin typeface="Times New Roman" panose="02020603050405020304" pitchFamily="18" charset="0"/>
                <a:cs typeface="Times New Roman" panose="02020603050405020304" pitchFamily="18" charset="0"/>
              </a:rPr>
              <a:t> AI provides an AI-powered chatbot for instant disease awareness, covering common symptoms, precautions, and doctor-consultation guidance.</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The system models a structured knowledge base of 41 diseases, each mapped to symptoms, precautions, and medical advice. </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user-described symptoms using NLP-based intent recognition and entity extraction to identify likely disease matches. </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AI-powered response generation delivers safe, non-diagnostic health guidance while always recommending professional consultation. </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 interactive chat interface provides users with clear, instant insights into possible conditions, precautions, and next steps.</a:t>
            </a:r>
          </a:p>
          <a:p>
            <a:pPr marL="285750" lvl="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292E2A-6C10-9910-7928-2BC6266FB798}"/>
            </a:ext>
          </a:extLst>
        </p:cNvPr>
        <p:cNvGrpSpPr/>
        <p:nvPr/>
      </p:nvGrpSpPr>
      <p:grpSpPr>
        <a:xfrm>
          <a:off x="0" y="0"/>
          <a:ext cx="0" cy="0"/>
          <a:chOff x="0" y="0"/>
          <a:chExt cx="0" cy="0"/>
        </a:xfrm>
      </p:grpSpPr>
      <p:sp>
        <p:nvSpPr>
          <p:cNvPr id="196" name="TextBox 6">
            <a:extLst>
              <a:ext uri="{FF2B5EF4-FFF2-40B4-BE49-F238E27FC236}">
                <a16:creationId xmlns:a16="http://schemas.microsoft.com/office/drawing/2014/main" id="{CC068D73-4ED1-F9F0-C708-BD9412AC5A8B}"/>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2291" name="CustomShape 1">
            <a:extLst>
              <a:ext uri="{FF2B5EF4-FFF2-40B4-BE49-F238E27FC236}">
                <a16:creationId xmlns:a16="http://schemas.microsoft.com/office/drawing/2014/main" id="{1F797947-82F6-F587-39E9-8D6574B40502}"/>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2292" name="!!TextBox">
            <a:extLst>
              <a:ext uri="{FF2B5EF4-FFF2-40B4-BE49-F238E27FC236}">
                <a16:creationId xmlns:a16="http://schemas.microsoft.com/office/drawing/2014/main" id="{4A74C17F-DA8D-CC34-B7A0-72DD70AAD73B}"/>
              </a:ext>
            </a:extLst>
          </p:cNvPr>
          <p:cNvSpPr txBox="1">
            <a:spLocks noChangeArrowheads="1"/>
          </p:cNvSpPr>
          <p:nvPr/>
        </p:nvSpPr>
        <p:spPr bwMode="auto">
          <a:xfrm>
            <a:off x="2212975" y="53975"/>
            <a:ext cx="441166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lnSpc>
                <a:spcPct val="150000"/>
              </a:lnSpc>
            </a:pPr>
            <a:r>
              <a:rPr lang="en-IN" altLang="en-US" sz="3200" b="1" dirty="0">
                <a:latin typeface="Times New Roman" panose="02020603050405020304" pitchFamily="18" charset="0"/>
                <a:ea typeface="Avenir Next Regular"/>
                <a:cs typeface="Times New Roman" panose="02020603050405020304" pitchFamily="18" charset="0"/>
                <a:sym typeface="Avenir Next Regular"/>
              </a:rPr>
              <a:t>Literature Survey</a:t>
            </a:r>
          </a:p>
        </p:txBody>
      </p:sp>
      <p:sp>
        <p:nvSpPr>
          <p:cNvPr id="3" name="TextBox 2">
            <a:extLst>
              <a:ext uri="{FF2B5EF4-FFF2-40B4-BE49-F238E27FC236}">
                <a16:creationId xmlns:a16="http://schemas.microsoft.com/office/drawing/2014/main" id="{3A017016-DC61-28C5-6E39-B96DF0BC587E}"/>
              </a:ext>
            </a:extLst>
          </p:cNvPr>
          <p:cNvSpPr txBox="1"/>
          <p:nvPr/>
        </p:nvSpPr>
        <p:spPr>
          <a:xfrm>
            <a:off x="227014" y="1262910"/>
            <a:ext cx="8678861" cy="5493812"/>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REFERENCE :</a:t>
            </a:r>
            <a:r>
              <a:rPr lang="en-IN" dirty="0">
                <a:latin typeface="Times New Roman" panose="02020603050405020304" pitchFamily="18" charset="0"/>
                <a:cs typeface="Times New Roman" panose="02020603050405020304" pitchFamily="18" charset="0"/>
              </a:rPr>
              <a:t> Exploring the Impact of Large Language Models on Disease Diagnosis</a:t>
            </a:r>
          </a:p>
          <a:p>
            <a:pPr algn="just">
              <a:lnSpc>
                <a:spcPct val="100000"/>
              </a:lnSpc>
            </a:pPr>
            <a:r>
              <a:rPr lang="en-IN" b="1" dirty="0">
                <a:latin typeface="Times New Roman" panose="02020603050405020304" pitchFamily="18" charset="0"/>
                <a:cs typeface="Times New Roman" panose="02020603050405020304" pitchFamily="18" charset="0"/>
              </a:rPr>
              <a:t>Author Name(s):</a:t>
            </a:r>
            <a:r>
              <a:rPr lang="en-IN" dirty="0">
                <a:latin typeface="Times New Roman" panose="02020603050405020304" pitchFamily="18" charset="0"/>
                <a:cs typeface="Times New Roman" panose="02020603050405020304" pitchFamily="18" charset="0"/>
              </a:rPr>
              <a:t> IBRAHIM ALMUBARK Department of Information Technology, College of Computer, Qassim University, Buraydah 52571, Saudi Arabia .This work was supported by the Deanship of Graduate Studies and Scientific Research at Qassim University under Grant QU-APC-2024. </a:t>
            </a:r>
          </a:p>
          <a:p>
            <a:pPr algn="just">
              <a:lnSpc>
                <a:spcPct val="100000"/>
              </a:lnSpc>
            </a:pPr>
            <a:r>
              <a:rPr lang="en-IN" b="1" dirty="0">
                <a:latin typeface="Times New Roman" panose="02020603050405020304" pitchFamily="18" charset="0"/>
                <a:cs typeface="Times New Roman" panose="02020603050405020304" pitchFamily="18" charset="0"/>
              </a:rPr>
              <a:t>Title of the Paper:</a:t>
            </a:r>
            <a:r>
              <a:rPr lang="en-IN" dirty="0">
                <a:latin typeface="Times New Roman" panose="02020603050405020304" pitchFamily="18" charset="0"/>
                <a:cs typeface="Times New Roman" panose="02020603050405020304" pitchFamily="18" charset="0"/>
              </a:rPr>
              <a:t> Exploring the Impact of Large Language Models on Disease Diagnosis </a:t>
            </a:r>
            <a:r>
              <a:rPr lang="en-IN" b="1" dirty="0">
                <a:latin typeface="Times New Roman" panose="02020603050405020304" pitchFamily="18" charset="0"/>
                <a:cs typeface="Times New Roman" panose="02020603050405020304" pitchFamily="18" charset="0"/>
              </a:rPr>
              <a:t>Journal Name:</a:t>
            </a:r>
            <a:r>
              <a:rPr lang="en-IN" dirty="0">
                <a:latin typeface="Times New Roman" panose="02020603050405020304" pitchFamily="18" charset="0"/>
                <a:cs typeface="Times New Roman" panose="02020603050405020304" pitchFamily="18" charset="0"/>
              </a:rPr>
              <a:t> IEEE</a:t>
            </a:r>
          </a:p>
          <a:p>
            <a:pPr algn="just">
              <a:lnSpc>
                <a:spcPct val="150000"/>
              </a:lnSpc>
            </a:pPr>
            <a:r>
              <a:rPr lang="en-IN" b="1" dirty="0">
                <a:latin typeface="Times New Roman" panose="02020603050405020304" pitchFamily="18" charset="0"/>
                <a:cs typeface="Times New Roman" panose="02020603050405020304" pitchFamily="18" charset="0"/>
              </a:rPr>
              <a:t>Volume No.:</a:t>
            </a:r>
            <a:r>
              <a:rPr lang="en-IN" dirty="0">
                <a:latin typeface="Times New Roman" panose="02020603050405020304" pitchFamily="18" charset="0"/>
                <a:cs typeface="Times New Roman" panose="02020603050405020304" pitchFamily="18" charset="0"/>
              </a:rPr>
              <a:t> 13</a:t>
            </a:r>
          </a:p>
          <a:p>
            <a:pPr algn="just">
              <a:lnSpc>
                <a:spcPct val="150000"/>
              </a:lnSpc>
            </a:pPr>
            <a:r>
              <a:rPr lang="en-IN" b="1" dirty="0">
                <a:latin typeface="Times New Roman" panose="02020603050405020304" pitchFamily="18" charset="0"/>
                <a:cs typeface="Times New Roman" panose="02020603050405020304" pitchFamily="18" charset="0"/>
              </a:rPr>
              <a:t>Year:</a:t>
            </a:r>
            <a:r>
              <a:rPr lang="en-IN" dirty="0">
                <a:latin typeface="Times New Roman" panose="02020603050405020304" pitchFamily="18" charset="0"/>
                <a:cs typeface="Times New Roman" panose="02020603050405020304" pitchFamily="18" charset="0"/>
              </a:rPr>
              <a:t> 2025</a:t>
            </a:r>
          </a:p>
          <a:p>
            <a:pPr algn="just">
              <a:lnSpc>
                <a:spcPct val="100000"/>
              </a:lnSpc>
            </a:pPr>
            <a:r>
              <a:rPr lang="en-IN" b="1" dirty="0">
                <a:latin typeface="Times New Roman" panose="02020603050405020304" pitchFamily="18" charset="0"/>
                <a:cs typeface="Times New Roman" panose="02020603050405020304" pitchFamily="18" charset="0"/>
              </a:rPr>
              <a:t>Observation:</a:t>
            </a:r>
            <a:r>
              <a:rPr lang="en-IN" dirty="0">
                <a:latin typeface="Times New Roman" panose="02020603050405020304" pitchFamily="18" charset="0"/>
                <a:cs typeface="Times New Roman" panose="02020603050405020304" pitchFamily="18" charset="0"/>
              </a:rPr>
              <a:t> This paper introduces an AI-driven public health chatbot, a scenario-based conversational system for delivering instant disease awareness and symptom guidance. It uses natural language understanding, symptom-to-disease matching, and a structured 41-disease knowledge base to identify probable conditions and recommend appropriate precautions. The system demonstrates that NLP-based symptom analysis can provide more accessible and immediate health awareness than traditional information sources, particularly for rural and semi-urban populations, while consistently directing users toward professional medical consultation rather than replacing it</a:t>
            </a:r>
            <a:r>
              <a:rPr lang="en-IN" dirty="0"/>
              <a:t>.</a:t>
            </a:r>
            <a:endParaRPr lang="en-IN" dirty="0">
              <a:latin typeface="Times New Roman" panose="02020603050405020304" pitchFamily="18" charset="0"/>
              <a:cs typeface="Times New Roman" panose="02020603050405020304" pitchFamily="18" charset="0"/>
            </a:endParaRPr>
          </a:p>
          <a:p>
            <a:pPr>
              <a:lnSpc>
                <a:spcPct val="100000"/>
              </a:lnSpc>
            </a:pP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661606162"/>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EAE2B8-D99D-3466-BAAB-7E23E7BDD956}"/>
            </a:ext>
          </a:extLst>
        </p:cNvPr>
        <p:cNvGrpSpPr/>
        <p:nvPr/>
      </p:nvGrpSpPr>
      <p:grpSpPr>
        <a:xfrm>
          <a:off x="0" y="0"/>
          <a:ext cx="0" cy="0"/>
          <a:chOff x="0" y="0"/>
          <a:chExt cx="0" cy="0"/>
        </a:xfrm>
      </p:grpSpPr>
      <p:sp>
        <p:nvSpPr>
          <p:cNvPr id="196" name="TextBox 6">
            <a:extLst>
              <a:ext uri="{FF2B5EF4-FFF2-40B4-BE49-F238E27FC236}">
                <a16:creationId xmlns:a16="http://schemas.microsoft.com/office/drawing/2014/main" id="{CB3CA392-626F-1883-FB60-93A553C6746A}"/>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2291" name="CustomShape 1">
            <a:extLst>
              <a:ext uri="{FF2B5EF4-FFF2-40B4-BE49-F238E27FC236}">
                <a16:creationId xmlns:a16="http://schemas.microsoft.com/office/drawing/2014/main" id="{15566587-B7A2-CF18-77E1-93124DD677D2}"/>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2292" name="!!TextBox">
            <a:extLst>
              <a:ext uri="{FF2B5EF4-FFF2-40B4-BE49-F238E27FC236}">
                <a16:creationId xmlns:a16="http://schemas.microsoft.com/office/drawing/2014/main" id="{7BB2F20F-DDFD-F81B-046C-7D5289E2C432}"/>
              </a:ext>
            </a:extLst>
          </p:cNvPr>
          <p:cNvSpPr txBox="1">
            <a:spLocks noChangeArrowheads="1"/>
          </p:cNvSpPr>
          <p:nvPr/>
        </p:nvSpPr>
        <p:spPr bwMode="auto">
          <a:xfrm>
            <a:off x="2212975" y="53975"/>
            <a:ext cx="441166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lnSpc>
                <a:spcPct val="150000"/>
              </a:lnSpc>
            </a:pPr>
            <a:r>
              <a:rPr lang="en-IN" altLang="en-US" sz="3200" b="1" dirty="0">
                <a:latin typeface="Times New Roman" panose="02020603050405020304" pitchFamily="18" charset="0"/>
                <a:ea typeface="Avenir Next Regular"/>
                <a:cs typeface="Times New Roman" panose="02020603050405020304" pitchFamily="18" charset="0"/>
                <a:sym typeface="Avenir Next Regular"/>
              </a:rPr>
              <a:t>Literature Survey</a:t>
            </a:r>
          </a:p>
        </p:txBody>
      </p:sp>
      <p:sp>
        <p:nvSpPr>
          <p:cNvPr id="3" name="TextBox 2">
            <a:extLst>
              <a:ext uri="{FF2B5EF4-FFF2-40B4-BE49-F238E27FC236}">
                <a16:creationId xmlns:a16="http://schemas.microsoft.com/office/drawing/2014/main" id="{E8AB32B4-43BE-6B42-4137-38A132839B6C}"/>
              </a:ext>
            </a:extLst>
          </p:cNvPr>
          <p:cNvSpPr txBox="1"/>
          <p:nvPr/>
        </p:nvSpPr>
        <p:spPr>
          <a:xfrm>
            <a:off x="228601" y="1245606"/>
            <a:ext cx="8677274" cy="5305555"/>
          </a:xfrm>
          <a:prstGeom prst="rect">
            <a:avLst/>
          </a:prstGeom>
          <a:noFill/>
        </p:spPr>
        <p:txBody>
          <a:bodyPr wrap="square">
            <a:spAutoFit/>
          </a:bodyPr>
          <a:lstStyle/>
          <a:p>
            <a:pPr algn="just">
              <a:lnSpc>
                <a:spcPct val="100000"/>
              </a:lnSpc>
            </a:pPr>
            <a:r>
              <a:rPr lang="en-IN" b="1" dirty="0">
                <a:latin typeface="Times New Roman" panose="02020603050405020304" pitchFamily="18" charset="0"/>
                <a:cs typeface="Times New Roman" panose="02020603050405020304" pitchFamily="18" charset="0"/>
              </a:rPr>
              <a:t>REFERENCE :</a:t>
            </a:r>
            <a:r>
              <a:rPr lang="en-IN" dirty="0">
                <a:latin typeface="Times New Roman" panose="02020603050405020304" pitchFamily="18" charset="0"/>
                <a:cs typeface="Times New Roman" panose="02020603050405020304" pitchFamily="18" charset="0"/>
              </a:rPr>
              <a:t> A Conversation-Driven Approach for Chatbot Management .</a:t>
            </a:r>
          </a:p>
          <a:p>
            <a:pPr algn="just">
              <a:lnSpc>
                <a:spcPct val="100000"/>
              </a:lnSpc>
            </a:pPr>
            <a:r>
              <a:rPr lang="en-IN" b="1" dirty="0">
                <a:latin typeface="Times New Roman" panose="02020603050405020304" pitchFamily="18" charset="0"/>
                <a:cs typeface="Times New Roman" panose="02020603050405020304" pitchFamily="18" charset="0"/>
              </a:rPr>
              <a:t>Author Name(s):</a:t>
            </a:r>
            <a:r>
              <a:rPr lang="en-IN" dirty="0">
                <a:latin typeface="Times New Roman" panose="02020603050405020304" pitchFamily="18" charset="0"/>
                <a:cs typeface="Times New Roman" panose="02020603050405020304" pitchFamily="18" charset="0"/>
              </a:rPr>
              <a:t> GIOVANNI ALMEIDA SANTOS GEOVANA RAMOS SOUSA SILVA 1,(Member, IEEE), GUILHERME GUY DE ANDRADE 1,FRANCISCO CARLOS MOLINA DUARTE, JR. JOÃO PAULO JAVIDI DA COSTA 3,(Senior Member, IEEE), AND RAFAEL TIMÓTEO DE SOUSA, JR. 1,(Senior Member, IEEE).</a:t>
            </a:r>
          </a:p>
          <a:p>
            <a:pPr algn="just">
              <a:lnSpc>
                <a:spcPct val="150000"/>
              </a:lnSpc>
            </a:pPr>
            <a:r>
              <a:rPr lang="en-IN" b="1" dirty="0">
                <a:latin typeface="Times New Roman" panose="02020603050405020304" pitchFamily="18" charset="0"/>
                <a:cs typeface="Times New Roman" panose="02020603050405020304" pitchFamily="18" charset="0"/>
              </a:rPr>
              <a:t>Title of the Paper:</a:t>
            </a:r>
            <a:r>
              <a:rPr lang="en-IN" dirty="0">
                <a:latin typeface="Times New Roman" panose="02020603050405020304" pitchFamily="18" charset="0"/>
                <a:cs typeface="Times New Roman" panose="02020603050405020304" pitchFamily="18" charset="0"/>
              </a:rPr>
              <a:t> A Conversation-Driven Approach for Chatbot Management.</a:t>
            </a:r>
          </a:p>
          <a:p>
            <a:pPr algn="just">
              <a:lnSpc>
                <a:spcPct val="150000"/>
              </a:lnSpc>
            </a:pPr>
            <a:r>
              <a:rPr lang="en-IN" b="1" dirty="0">
                <a:latin typeface="Times New Roman" panose="02020603050405020304" pitchFamily="18" charset="0"/>
                <a:cs typeface="Times New Roman" panose="02020603050405020304" pitchFamily="18" charset="0"/>
              </a:rPr>
              <a:t>Journal Name:</a:t>
            </a:r>
            <a:r>
              <a:rPr lang="en-IN" dirty="0">
                <a:latin typeface="Times New Roman" panose="02020603050405020304" pitchFamily="18" charset="0"/>
                <a:cs typeface="Times New Roman" panose="02020603050405020304" pitchFamily="18" charset="0"/>
              </a:rPr>
              <a:t> IEEE</a:t>
            </a:r>
          </a:p>
          <a:p>
            <a:pPr algn="just">
              <a:lnSpc>
                <a:spcPct val="150000"/>
              </a:lnSpc>
            </a:pPr>
            <a:r>
              <a:rPr lang="en-IN" b="1" dirty="0">
                <a:latin typeface="Times New Roman" panose="02020603050405020304" pitchFamily="18" charset="0"/>
                <a:cs typeface="Times New Roman" panose="02020603050405020304" pitchFamily="18" charset="0"/>
              </a:rPr>
              <a:t>Year:</a:t>
            </a:r>
            <a:r>
              <a:rPr lang="en-IN" dirty="0">
                <a:latin typeface="Times New Roman" panose="02020603050405020304" pitchFamily="18" charset="0"/>
                <a:cs typeface="Times New Roman" panose="02020603050405020304" pitchFamily="18" charset="0"/>
              </a:rPr>
              <a:t> 2022</a:t>
            </a:r>
          </a:p>
          <a:p>
            <a:pPr algn="just">
              <a:lnSpc>
                <a:spcPct val="100000"/>
              </a:lnSpc>
            </a:pPr>
            <a:r>
              <a:rPr lang="en-IN" b="1" dirty="0">
                <a:latin typeface="Times New Roman" panose="02020603050405020304" pitchFamily="18" charset="0"/>
                <a:cs typeface="Times New Roman" panose="02020603050405020304" pitchFamily="18" charset="0"/>
              </a:rPr>
              <a:t>Observation:</a:t>
            </a:r>
            <a:r>
              <a:rPr lang="en-IN" dirty="0">
                <a:latin typeface="Times New Roman" panose="02020603050405020304" pitchFamily="18" charset="0"/>
                <a:cs typeface="Times New Roman" panose="02020603050405020304" pitchFamily="18" charset="0"/>
              </a:rPr>
              <a:t> This paper introduces the Chatbot Management Process (CMP), a conversation-driven methodology for post-deployment chatbot content management. It uses a cyclic three-phase approach — manage, build, and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 combined with human-supervised learning and performance metrics to evolve knowledge bases based on real user conversations. The framework demonstrates that structured, conversation-driven content management can significantly reduce human hand-off rates and grow chatbot knowledge bases while maintaining response confidence and user satisfaction, validated through the deployment of the </a:t>
            </a:r>
            <a:r>
              <a:rPr lang="en-IN" dirty="0" err="1">
                <a:latin typeface="Times New Roman" panose="02020603050405020304" pitchFamily="18" charset="0"/>
                <a:cs typeface="Times New Roman" panose="02020603050405020304" pitchFamily="18" charset="0"/>
              </a:rPr>
              <a:t>EvaTalk</a:t>
            </a:r>
            <a:r>
              <a:rPr lang="en-IN" dirty="0">
                <a:latin typeface="Times New Roman" panose="02020603050405020304" pitchFamily="18" charset="0"/>
                <a:cs typeface="Times New Roman" panose="02020603050405020304" pitchFamily="18" charset="0"/>
              </a:rPr>
              <a:t> chatbot.</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9870827"/>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6" name="TextBox 6">
            <a:extLst>
              <a:ext uri="{FF2B5EF4-FFF2-40B4-BE49-F238E27FC236}">
                <a16:creationId xmlns:a16="http://schemas.microsoft.com/office/drawing/2014/main" id="{764009D8-52BB-5538-14DA-FBA074976CC4}"/>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2291" name="CustomShape 1">
            <a:extLst>
              <a:ext uri="{FF2B5EF4-FFF2-40B4-BE49-F238E27FC236}">
                <a16:creationId xmlns:a16="http://schemas.microsoft.com/office/drawing/2014/main" id="{BE27FB1B-45ED-42A1-3A3D-68A629CB99EB}"/>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2292" name="!!TextBox">
            <a:extLst>
              <a:ext uri="{FF2B5EF4-FFF2-40B4-BE49-F238E27FC236}">
                <a16:creationId xmlns:a16="http://schemas.microsoft.com/office/drawing/2014/main" id="{F4ED7A66-916A-6B2A-7098-AA3C42F3C05B}"/>
              </a:ext>
            </a:extLst>
          </p:cNvPr>
          <p:cNvSpPr txBox="1">
            <a:spLocks noChangeArrowheads="1"/>
          </p:cNvSpPr>
          <p:nvPr/>
        </p:nvSpPr>
        <p:spPr bwMode="auto">
          <a:xfrm>
            <a:off x="2212975" y="53975"/>
            <a:ext cx="441166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lnSpc>
                <a:spcPct val="150000"/>
              </a:lnSpc>
            </a:pPr>
            <a:r>
              <a:rPr lang="en-IN" altLang="en-US" sz="3200" b="1" dirty="0">
                <a:latin typeface="Times New Roman" panose="02020603050405020304" pitchFamily="18" charset="0"/>
                <a:ea typeface="Avenir Next Regular"/>
                <a:cs typeface="Times New Roman" panose="02020603050405020304" pitchFamily="18" charset="0"/>
                <a:sym typeface="Avenir Next Regular"/>
              </a:rPr>
              <a:t>Literature Survey</a:t>
            </a:r>
          </a:p>
        </p:txBody>
      </p:sp>
      <p:sp>
        <p:nvSpPr>
          <p:cNvPr id="3" name="TextBox 2">
            <a:extLst>
              <a:ext uri="{FF2B5EF4-FFF2-40B4-BE49-F238E27FC236}">
                <a16:creationId xmlns:a16="http://schemas.microsoft.com/office/drawing/2014/main" id="{84C14B00-AFE1-B683-664A-0CDDD5160429}"/>
              </a:ext>
            </a:extLst>
          </p:cNvPr>
          <p:cNvSpPr txBox="1"/>
          <p:nvPr/>
        </p:nvSpPr>
        <p:spPr>
          <a:xfrm>
            <a:off x="238125" y="1274951"/>
            <a:ext cx="8738727" cy="5355312"/>
          </a:xfrm>
          <a:prstGeom prst="rect">
            <a:avLst/>
          </a:prstGeom>
          <a:noFill/>
        </p:spPr>
        <p:txBody>
          <a:bodyPr wrap="square">
            <a:spAutoFit/>
          </a:bodyPr>
          <a:lstStyle/>
          <a:p>
            <a:pPr algn="just">
              <a:lnSpc>
                <a:spcPct val="100000"/>
              </a:lnSpc>
            </a:pPr>
            <a:r>
              <a:rPr lang="en-IN" b="1" dirty="0">
                <a:latin typeface="Times New Roman" panose="02020603050405020304" pitchFamily="18" charset="0"/>
                <a:cs typeface="Times New Roman" panose="02020603050405020304" pitchFamily="18" charset="0"/>
              </a:rPr>
              <a:t>REFERENCE :</a:t>
            </a:r>
            <a:r>
              <a:rPr lang="en-IN" dirty="0">
                <a:latin typeface="Times New Roman" panose="02020603050405020304" pitchFamily="18" charset="0"/>
                <a:cs typeface="Times New Roman" panose="02020603050405020304" pitchFamily="18" charset="0"/>
              </a:rPr>
              <a:t> Toward Inclusive Healthcare: An LLM-Based Multimodal Chatbot for Preliminary Diagnosis</a:t>
            </a:r>
          </a:p>
          <a:p>
            <a:pPr algn="just">
              <a:lnSpc>
                <a:spcPct val="100000"/>
              </a:lnSpc>
            </a:pPr>
            <a:r>
              <a:rPr lang="en-IN" b="1" dirty="0">
                <a:latin typeface="Times New Roman" panose="02020603050405020304" pitchFamily="18" charset="0"/>
                <a:cs typeface="Times New Roman" panose="02020603050405020304" pitchFamily="18" charset="0"/>
              </a:rPr>
              <a:t>Author Name(s):</a:t>
            </a:r>
            <a:r>
              <a:rPr lang="en-IN" dirty="0">
                <a:latin typeface="Times New Roman" panose="02020603050405020304" pitchFamily="18" charset="0"/>
                <a:cs typeface="Times New Roman" panose="02020603050405020304" pitchFamily="18" charset="0"/>
              </a:rPr>
              <a:t> ISHITA AGARWAL , V. SAKTHIVEL , (Member, IEEE), AND P. PRAKASH School of Computer Science and Engineering, Vellore Institute of Technology, Chennai, Tamil Nadu 600127, India Corresponding author: V. Sakthivel. This work was supported by Vellore Institute of Technology, Chennai, India</a:t>
            </a:r>
          </a:p>
          <a:p>
            <a:pPr algn="just">
              <a:lnSpc>
                <a:spcPct val="150000"/>
              </a:lnSpc>
            </a:pPr>
            <a:r>
              <a:rPr lang="en-IN" b="1" dirty="0">
                <a:latin typeface="Times New Roman" panose="02020603050405020304" pitchFamily="18" charset="0"/>
                <a:cs typeface="Times New Roman" panose="02020603050405020304" pitchFamily="18" charset="0"/>
              </a:rPr>
              <a:t>Title of the Paper:</a:t>
            </a:r>
            <a:r>
              <a:rPr lang="en-IN" dirty="0">
                <a:latin typeface="Times New Roman" panose="02020603050405020304" pitchFamily="18" charset="0"/>
                <a:cs typeface="Times New Roman" panose="02020603050405020304" pitchFamily="18" charset="0"/>
              </a:rPr>
              <a:t> Toward Inclusive Healthcare: An LLM-Based Multimodal Chatbot for Preliminary Diagnosis </a:t>
            </a:r>
          </a:p>
          <a:p>
            <a:pPr algn="just">
              <a:lnSpc>
                <a:spcPct val="150000"/>
              </a:lnSpc>
            </a:pPr>
            <a:r>
              <a:rPr lang="en-IN" b="1" dirty="0">
                <a:latin typeface="Times New Roman" panose="02020603050405020304" pitchFamily="18" charset="0"/>
                <a:cs typeface="Times New Roman" panose="02020603050405020304" pitchFamily="18" charset="0"/>
              </a:rPr>
              <a:t>Journal Name:</a:t>
            </a:r>
            <a:r>
              <a:rPr lang="en-IN" dirty="0">
                <a:latin typeface="Times New Roman" panose="02020603050405020304" pitchFamily="18" charset="0"/>
                <a:cs typeface="Times New Roman" panose="02020603050405020304" pitchFamily="18" charset="0"/>
              </a:rPr>
              <a:t> IEEE</a:t>
            </a:r>
          </a:p>
          <a:p>
            <a:pPr algn="just">
              <a:lnSpc>
                <a:spcPct val="150000"/>
              </a:lnSpc>
            </a:pPr>
            <a:r>
              <a:rPr lang="en-IN" b="1" dirty="0">
                <a:latin typeface="Times New Roman" panose="02020603050405020304" pitchFamily="18" charset="0"/>
                <a:cs typeface="Times New Roman" panose="02020603050405020304" pitchFamily="18" charset="0"/>
              </a:rPr>
              <a:t>Year:</a:t>
            </a:r>
            <a:r>
              <a:rPr lang="en-IN" dirty="0">
                <a:latin typeface="Times New Roman" panose="02020603050405020304" pitchFamily="18" charset="0"/>
                <a:cs typeface="Times New Roman" panose="02020603050405020304" pitchFamily="18" charset="0"/>
              </a:rPr>
              <a:t> 2025</a:t>
            </a:r>
          </a:p>
          <a:p>
            <a:pPr algn="just">
              <a:lnSpc>
                <a:spcPct val="100000"/>
              </a:lnSpc>
            </a:pPr>
            <a:r>
              <a:rPr lang="en-IN" b="1" dirty="0">
                <a:latin typeface="Times New Roman" panose="02020603050405020304" pitchFamily="18" charset="0"/>
                <a:cs typeface="Times New Roman" panose="02020603050405020304" pitchFamily="18" charset="0"/>
              </a:rPr>
              <a:t>Observation:</a:t>
            </a:r>
            <a:r>
              <a:rPr lang="en-IN" dirty="0">
                <a:latin typeface="Times New Roman" panose="02020603050405020304" pitchFamily="18" charset="0"/>
                <a:cs typeface="Times New Roman" panose="02020603050405020304" pitchFamily="18" charset="0"/>
              </a:rPr>
              <a:t> This paper introduces an LLM-based multimodal medical chatbot, a Retrieval-Augmented Generation (RAG) framework for preliminary disease diagnosis using text and image inputs. It uses Gemini-2.0-Flash, a FAISS vector database, and a curated 1,613-topic medical knowledge base to retrieve relevant information and generate grounded, context-aware responses. The framework demonstrates that RAG-based retrieval can provide more accurate and less hallucinated diagnostic insights than direct LLM querying alone, and can support accessible, scalable preliminary healthcare guidance for underserved populations.</a:t>
            </a: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6" name="TextBox 6">
            <a:extLst>
              <a:ext uri="{FF2B5EF4-FFF2-40B4-BE49-F238E27FC236}">
                <a16:creationId xmlns:a16="http://schemas.microsoft.com/office/drawing/2014/main" id="{AC240FB9-3ED2-2B14-A1A2-E6A17D54ADBD}"/>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5363" name="CustomShape 1">
            <a:extLst>
              <a:ext uri="{FF2B5EF4-FFF2-40B4-BE49-F238E27FC236}">
                <a16:creationId xmlns:a16="http://schemas.microsoft.com/office/drawing/2014/main" id="{E62CEFED-1FB9-61C6-DC64-18B87C01C32F}"/>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5364" name="!!TextBox">
            <a:extLst>
              <a:ext uri="{FF2B5EF4-FFF2-40B4-BE49-F238E27FC236}">
                <a16:creationId xmlns:a16="http://schemas.microsoft.com/office/drawing/2014/main" id="{EE292B55-3FCC-2236-18CB-F44BE2EDFB70}"/>
              </a:ext>
            </a:extLst>
          </p:cNvPr>
          <p:cNvSpPr txBox="1">
            <a:spLocks noChangeArrowheads="1"/>
          </p:cNvSpPr>
          <p:nvPr/>
        </p:nvSpPr>
        <p:spPr bwMode="auto">
          <a:xfrm>
            <a:off x="2212975" y="53975"/>
            <a:ext cx="441166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lnSpc>
                <a:spcPct val="150000"/>
              </a:lnSpc>
            </a:pPr>
            <a:r>
              <a:rPr lang="en-IN" altLang="en-US" sz="3200" b="1" dirty="0">
                <a:latin typeface="Times New Roman" panose="02020603050405020304" pitchFamily="18" charset="0"/>
                <a:ea typeface="Avenir Next Regular"/>
                <a:cs typeface="Times New Roman" panose="02020603050405020304" pitchFamily="18" charset="0"/>
                <a:sym typeface="Avenir Next Regular"/>
              </a:rPr>
              <a:t>Problem Statement</a:t>
            </a:r>
          </a:p>
        </p:txBody>
      </p:sp>
      <p:sp>
        <p:nvSpPr>
          <p:cNvPr id="3" name="TextBox 2">
            <a:extLst>
              <a:ext uri="{FF2B5EF4-FFF2-40B4-BE49-F238E27FC236}">
                <a16:creationId xmlns:a16="http://schemas.microsoft.com/office/drawing/2014/main" id="{DA5C2A03-D8C7-E5EA-0F6D-81911E02618A}"/>
              </a:ext>
            </a:extLst>
          </p:cNvPr>
          <p:cNvSpPr txBox="1"/>
          <p:nvPr/>
        </p:nvSpPr>
        <p:spPr>
          <a:xfrm>
            <a:off x="148355" y="1530862"/>
            <a:ext cx="8678862" cy="286232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Many people, especially in rural and semi-urban areas, don't have quick or easy access to a doctor. Existing health websites and pamphlets only give general information and can't understand a person's specific symptoms. Because of this, people often ignore early symptoms or don't know what precautions to take, which can lead to delayed diagnosis and worse health outcomes over time. This project solves this by building an AI-powered chatbot that understands symptoms described in plain language, instantly provides information about possible diseases and useful precautions, and gives clear guidance on when to see a doctor</a:t>
            </a:r>
            <a:r>
              <a:rPr lang="en-IN" dirty="0"/>
              <a:t>.</a:t>
            </a:r>
          </a:p>
          <a:p>
            <a:pPr marL="285750" indent="-285750">
              <a:lnSpc>
                <a:spcPct val="10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nSpc>
                <a:spcPct val="100000"/>
              </a:lnSpc>
              <a:buFont typeface="+mj-lt"/>
              <a:buAutoNum type="arabicPeriod"/>
            </a:pPr>
            <a:endParaRPr b="0" dirty="0">
              <a:latin typeface="Times New Roman"/>
              <a:cs typeface="Times New Roman"/>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6" name="TextBox 6">
            <a:extLst>
              <a:ext uri="{FF2B5EF4-FFF2-40B4-BE49-F238E27FC236}">
                <a16:creationId xmlns:a16="http://schemas.microsoft.com/office/drawing/2014/main" id="{BF841529-E29E-215E-826A-84DF879E69E7}"/>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3315" name="CustomShape 1">
            <a:extLst>
              <a:ext uri="{FF2B5EF4-FFF2-40B4-BE49-F238E27FC236}">
                <a16:creationId xmlns:a16="http://schemas.microsoft.com/office/drawing/2014/main" id="{323F0579-63A1-81B7-F216-63EA72BB1D31}"/>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3316" name="!!TextBox">
            <a:extLst>
              <a:ext uri="{FF2B5EF4-FFF2-40B4-BE49-F238E27FC236}">
                <a16:creationId xmlns:a16="http://schemas.microsoft.com/office/drawing/2014/main" id="{7B33BC73-3AE9-284E-92B9-2DF2F175D07E}"/>
              </a:ext>
            </a:extLst>
          </p:cNvPr>
          <p:cNvSpPr txBox="1">
            <a:spLocks noChangeArrowheads="1"/>
          </p:cNvSpPr>
          <p:nvPr/>
        </p:nvSpPr>
        <p:spPr bwMode="auto">
          <a:xfrm>
            <a:off x="2212975" y="53975"/>
            <a:ext cx="441166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lnSpc>
                <a:spcPct val="150000"/>
              </a:lnSpc>
            </a:pPr>
            <a:r>
              <a:rPr lang="en-IN" altLang="en-US" sz="3200" b="1" dirty="0">
                <a:latin typeface="Times New Roman" panose="02020603050405020304" pitchFamily="18" charset="0"/>
                <a:ea typeface="Avenir Next Regular"/>
                <a:cs typeface="Times New Roman" panose="02020603050405020304" pitchFamily="18" charset="0"/>
                <a:sym typeface="Avenir Next Regular"/>
              </a:rPr>
              <a:t>Existing Solutions</a:t>
            </a:r>
          </a:p>
        </p:txBody>
      </p:sp>
      <p:sp>
        <p:nvSpPr>
          <p:cNvPr id="7" name="Rectangle 8">
            <a:extLst>
              <a:ext uri="{FF2B5EF4-FFF2-40B4-BE49-F238E27FC236}">
                <a16:creationId xmlns:a16="http://schemas.microsoft.com/office/drawing/2014/main" id="{6B37B388-F6D5-F989-E555-ECCACEE8662E}"/>
              </a:ext>
            </a:extLst>
          </p:cNvPr>
          <p:cNvSpPr>
            <a:spLocks noChangeArrowheads="1"/>
          </p:cNvSpPr>
          <p:nvPr/>
        </p:nvSpPr>
        <p:spPr bwMode="auto">
          <a:xfrm>
            <a:off x="228600" y="796925"/>
            <a:ext cx="8677275" cy="6413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IN" dirty="0">
                <a:latin typeface="Times New Roman" panose="02020603050405020304" pitchFamily="18" charset="0"/>
                <a:cs typeface="Times New Roman" panose="02020603050405020304" pitchFamily="18" charset="0"/>
              </a:rPr>
              <a:t> </a:t>
            </a:r>
          </a:p>
          <a:p>
            <a:pPr lvl="0"/>
            <a:r>
              <a:rPr lang="en-IN" b="1" dirty="0">
                <a:latin typeface="Times New Roman" panose="02020603050405020304" pitchFamily="18" charset="0"/>
                <a:cs typeface="Times New Roman" panose="02020603050405020304" pitchFamily="18" charset="0"/>
              </a:rPr>
              <a:t>Rule-Based Chatbots</a:t>
            </a:r>
            <a:r>
              <a:rPr lang="en-IN" dirty="0">
                <a:latin typeface="Times New Roman" panose="02020603050405020304" pitchFamily="18" charset="0"/>
                <a:cs typeface="Times New Roman" panose="02020603050405020304" pitchFamily="18" charset="0"/>
              </a:rPr>
              <a:t> – Older medical chatbots used simple predefined rules to match symptoms to diseases. They could handle basic conversations but struggled if a user phrased something differently than expected, since they couldn't understand language flexibly.</a:t>
            </a:r>
          </a:p>
          <a:p>
            <a:pPr lvl="0"/>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AI Chatbots Using Large Language Models (like ChatGPT, GPT-4, BARD)</a:t>
            </a:r>
            <a:r>
              <a:rPr lang="en-IN" dirty="0">
                <a:latin typeface="Times New Roman" panose="02020603050405020304" pitchFamily="18" charset="0"/>
                <a:cs typeface="Times New Roman" panose="02020603050405020304" pitchFamily="18" charset="0"/>
              </a:rPr>
              <a:t> – These systems use powerful AI models trained on huge amounts of text to diagnose diseases from symptoms, medical records, and even images. The problem is they sometimes "hallucinate" — meaning they confidently give wrong or made-up medical information — and it's hard to understand how they arrived at their answer.</a:t>
            </a:r>
          </a:p>
          <a:p>
            <a:pPr lvl="0"/>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RAG-Based Chatbots (AI + Verified Knowledge Search)</a:t>
            </a:r>
            <a:r>
              <a:rPr lang="en-IN" dirty="0">
                <a:latin typeface="Times New Roman" panose="02020603050405020304" pitchFamily="18" charset="0"/>
                <a:cs typeface="Times New Roman" panose="02020603050405020304" pitchFamily="18" charset="0"/>
              </a:rPr>
              <a:t> – Newer systems combine AI models with a real, trusted medical database (like WebMD), so instead of guessing, the chatbot looks up verified information before answering. This reduces wrong answers, but it needs a lot of computing power, internet access, and careful handling of user privacy.</a:t>
            </a:r>
          </a:p>
          <a:p>
            <a:pPr lvl="0"/>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Chatbot Management Systems</a:t>
            </a:r>
            <a:r>
              <a:rPr lang="en-IN" dirty="0">
                <a:latin typeface="Times New Roman" panose="02020603050405020304" pitchFamily="18" charset="0"/>
                <a:cs typeface="Times New Roman" panose="02020603050405020304" pitchFamily="18" charset="0"/>
              </a:rPr>
              <a:t> – Some approaches focus not on the AI itself, but on how a chatbot's knowledge is kept updated over time by studying real conversations with users. This helps the chatbot improve gradually, but it needs a dedicated team constantly reviewing and updating the system.</a:t>
            </a:r>
          </a:p>
          <a:p>
            <a:endParaRPr lang="en-IN" dirty="0"/>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FF7B98-7CA9-E411-249C-7249BA9AAC95}"/>
            </a:ext>
          </a:extLst>
        </p:cNvPr>
        <p:cNvGrpSpPr/>
        <p:nvPr/>
      </p:nvGrpSpPr>
      <p:grpSpPr>
        <a:xfrm>
          <a:off x="0" y="0"/>
          <a:ext cx="0" cy="0"/>
          <a:chOff x="0" y="0"/>
          <a:chExt cx="0" cy="0"/>
        </a:xfrm>
      </p:grpSpPr>
      <p:sp>
        <p:nvSpPr>
          <p:cNvPr id="196" name="TextBox 6">
            <a:extLst>
              <a:ext uri="{FF2B5EF4-FFF2-40B4-BE49-F238E27FC236}">
                <a16:creationId xmlns:a16="http://schemas.microsoft.com/office/drawing/2014/main" id="{5920BF06-73DA-4C51-A465-DCD69F780826}"/>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3315" name="CustomShape 1">
            <a:extLst>
              <a:ext uri="{FF2B5EF4-FFF2-40B4-BE49-F238E27FC236}">
                <a16:creationId xmlns:a16="http://schemas.microsoft.com/office/drawing/2014/main" id="{BFBAA9AA-6A32-00F8-9BD7-4A9CCC010755}"/>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3316" name="!!TextBox">
            <a:extLst>
              <a:ext uri="{FF2B5EF4-FFF2-40B4-BE49-F238E27FC236}">
                <a16:creationId xmlns:a16="http://schemas.microsoft.com/office/drawing/2014/main" id="{B5892D31-AD17-9AC1-6BFF-4C4B234C5927}"/>
              </a:ext>
            </a:extLst>
          </p:cNvPr>
          <p:cNvSpPr txBox="1">
            <a:spLocks noChangeArrowheads="1"/>
          </p:cNvSpPr>
          <p:nvPr/>
        </p:nvSpPr>
        <p:spPr bwMode="auto">
          <a:xfrm>
            <a:off x="2212975" y="53975"/>
            <a:ext cx="441166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lnSpc>
                <a:spcPct val="150000"/>
              </a:lnSpc>
            </a:pPr>
            <a:r>
              <a:rPr lang="en-IN" altLang="en-US" sz="3200" b="1" dirty="0">
                <a:latin typeface="Times New Roman" panose="02020603050405020304" pitchFamily="18" charset="0"/>
                <a:ea typeface="Avenir Next Regular"/>
                <a:cs typeface="Times New Roman" panose="02020603050405020304" pitchFamily="18" charset="0"/>
                <a:sym typeface="Avenir Next Regular"/>
              </a:rPr>
              <a:t>Proposed Solution</a:t>
            </a:r>
          </a:p>
        </p:txBody>
      </p:sp>
      <p:sp>
        <p:nvSpPr>
          <p:cNvPr id="7" name="Rectangle 8">
            <a:extLst>
              <a:ext uri="{FF2B5EF4-FFF2-40B4-BE49-F238E27FC236}">
                <a16:creationId xmlns:a16="http://schemas.microsoft.com/office/drawing/2014/main" id="{510B673F-751D-42D5-C408-D5B867E0E540}"/>
              </a:ext>
            </a:extLst>
          </p:cNvPr>
          <p:cNvSpPr>
            <a:spLocks noChangeArrowheads="1"/>
          </p:cNvSpPr>
          <p:nvPr/>
        </p:nvSpPr>
        <p:spPr bwMode="auto">
          <a:xfrm>
            <a:off x="0" y="1457650"/>
            <a:ext cx="91440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Symptom-Based Conversational Interface</a:t>
            </a:r>
            <a:r>
              <a:rPr lang="en-IN" dirty="0">
                <a:latin typeface="Times New Roman" panose="02020603050405020304" pitchFamily="18" charset="0"/>
                <a:cs typeface="Times New Roman" panose="02020603050405020304" pitchFamily="18" charset="0"/>
              </a:rPr>
              <a:t>: Lets users describe their symptoms in plain, everyday language instead of filling out complicated forms.</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Intent &amp; Entity Recognition (NLP)</a:t>
            </a:r>
            <a:r>
              <a:rPr lang="en-IN" dirty="0">
                <a:latin typeface="Times New Roman" panose="02020603050405020304" pitchFamily="18" charset="0"/>
                <a:cs typeface="Times New Roman" panose="02020603050405020304" pitchFamily="18" charset="0"/>
              </a:rPr>
              <a:t>: Understands what the user is asking (greeting, describing symptoms, asking for prevention tips) and automatically extracts specific symptoms from their message.</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Disease Knowledge Base</a:t>
            </a:r>
            <a:r>
              <a:rPr lang="en-IN" dirty="0">
                <a:latin typeface="Times New Roman" panose="02020603050405020304" pitchFamily="18" charset="0"/>
                <a:cs typeface="Times New Roman" panose="02020603050405020304" pitchFamily="18" charset="0"/>
              </a:rPr>
              <a:t>: Stores structured information on 41 diseases, including their symptoms, precautions, and doctor-consultation advice.</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Symptom-to-Disease Matching</a:t>
            </a:r>
            <a:r>
              <a:rPr lang="en-IN" dirty="0">
                <a:latin typeface="Times New Roman" panose="02020603050405020304" pitchFamily="18" charset="0"/>
                <a:cs typeface="Times New Roman" panose="02020603050405020304" pitchFamily="18" charset="0"/>
              </a:rPr>
              <a:t>: Compares extracted symptoms against the knowledge base to identify the most likely disease(s), even when multiple conditions share similar symptoms.</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Safety-First Disclaimers</a:t>
            </a:r>
            <a:r>
              <a:rPr lang="en-IN" dirty="0">
                <a:latin typeface="Times New Roman" panose="02020603050405020304" pitchFamily="18" charset="0"/>
                <a:cs typeface="Times New Roman" panose="02020603050405020304" pitchFamily="18" charset="0"/>
              </a:rPr>
              <a:t>: Every response reminds the user that this is not a medical diagnosis and encourages them to consult a doctor for serious or persistent symptoms.</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Ambiguity Handling</a:t>
            </a:r>
            <a:r>
              <a:rPr lang="en-IN" dirty="0">
                <a:latin typeface="Times New Roman" panose="02020603050405020304" pitchFamily="18" charset="0"/>
                <a:cs typeface="Times New Roman" panose="02020603050405020304" pitchFamily="18" charset="0"/>
              </a:rPr>
              <a:t>: If symptoms match more than one disease equally, the chatbot lists all possibilities instead of guessing incorrectly.</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Fallback for Vague Input</a:t>
            </a:r>
            <a:r>
              <a:rPr lang="en-IN" dirty="0">
                <a:latin typeface="Times New Roman" panose="02020603050405020304" pitchFamily="18" charset="0"/>
                <a:cs typeface="Times New Roman" panose="02020603050405020304" pitchFamily="18" charset="0"/>
              </a:rPr>
              <a:t>: If a user's message doesn't contain clear symptoms, the chatbot asks a clarifying question instead of giving a wrong answer.</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Instant, Accessible Guidance</a:t>
            </a:r>
            <a:r>
              <a:rPr lang="en-IN" dirty="0">
                <a:latin typeface="Times New Roman" panose="02020603050405020304" pitchFamily="18" charset="0"/>
                <a:cs typeface="Times New Roman" panose="02020603050405020304" pitchFamily="18" charset="0"/>
              </a:rPr>
              <a:t>: Provides users with immediate health awareness and next steps, especially useful for people in rural or semi-urban areas with limited access to doctors.</a:t>
            </a:r>
          </a:p>
        </p:txBody>
      </p:sp>
    </p:spTree>
    <p:extLst>
      <p:ext uri="{BB962C8B-B14F-4D97-AF65-F5344CB8AC3E}">
        <p14:creationId xmlns:p14="http://schemas.microsoft.com/office/powerpoint/2010/main" val="152102879"/>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DD9A85-978D-6A27-4ADE-FCEE5CBD1F69}"/>
            </a:ext>
          </a:extLst>
        </p:cNvPr>
        <p:cNvGrpSpPr/>
        <p:nvPr/>
      </p:nvGrpSpPr>
      <p:grpSpPr>
        <a:xfrm>
          <a:off x="0" y="0"/>
          <a:ext cx="0" cy="0"/>
          <a:chOff x="0" y="0"/>
          <a:chExt cx="0" cy="0"/>
        </a:xfrm>
      </p:grpSpPr>
      <p:sp>
        <p:nvSpPr>
          <p:cNvPr id="196" name="TextBox 6">
            <a:extLst>
              <a:ext uri="{FF2B5EF4-FFF2-40B4-BE49-F238E27FC236}">
                <a16:creationId xmlns:a16="http://schemas.microsoft.com/office/drawing/2014/main" id="{A4299EB9-3355-9415-6C9B-2433FEF2ADFA}"/>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3315" name="CustomShape 1">
            <a:extLst>
              <a:ext uri="{FF2B5EF4-FFF2-40B4-BE49-F238E27FC236}">
                <a16:creationId xmlns:a16="http://schemas.microsoft.com/office/drawing/2014/main" id="{DF9BC10B-D9F5-40E2-B307-EB39F6E2F0DF}"/>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3316" name="!!TextBox">
            <a:extLst>
              <a:ext uri="{FF2B5EF4-FFF2-40B4-BE49-F238E27FC236}">
                <a16:creationId xmlns:a16="http://schemas.microsoft.com/office/drawing/2014/main" id="{A9A41FD1-EEE1-8277-638A-AEAA1374F79A}"/>
              </a:ext>
            </a:extLst>
          </p:cNvPr>
          <p:cNvSpPr txBox="1">
            <a:spLocks noChangeArrowheads="1"/>
          </p:cNvSpPr>
          <p:nvPr/>
        </p:nvSpPr>
        <p:spPr bwMode="auto">
          <a:xfrm>
            <a:off x="1770523" y="70963"/>
            <a:ext cx="441166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lnSpc>
                <a:spcPct val="150000"/>
              </a:lnSpc>
            </a:pPr>
            <a:r>
              <a:rPr lang="en-US" altLang="en-US" sz="3200" b="1" dirty="0">
                <a:latin typeface="Times New Roman" panose="02020603050405020304" pitchFamily="18" charset="0"/>
                <a:ea typeface="Avenir Next Regular"/>
                <a:cs typeface="Times New Roman" panose="02020603050405020304" pitchFamily="18" charset="0"/>
                <a:sym typeface="Avenir Next Regular"/>
              </a:rPr>
              <a:t>	</a:t>
            </a:r>
            <a:r>
              <a:rPr lang="en-IN" altLang="en-US" sz="3200" b="1" dirty="0">
                <a:latin typeface="Times New Roman" panose="02020603050405020304" pitchFamily="18" charset="0"/>
                <a:ea typeface="Avenir Next Regular"/>
                <a:cs typeface="Times New Roman" panose="02020603050405020304" pitchFamily="18" charset="0"/>
                <a:sym typeface="Avenir Next Regular"/>
              </a:rPr>
              <a:t>Design</a:t>
            </a:r>
          </a:p>
        </p:txBody>
      </p:sp>
      <p:pic>
        <p:nvPicPr>
          <p:cNvPr id="6" name="Picture 5">
            <a:extLst>
              <a:ext uri="{FF2B5EF4-FFF2-40B4-BE49-F238E27FC236}">
                <a16:creationId xmlns:a16="http://schemas.microsoft.com/office/drawing/2014/main" id="{CC9E2F72-EDB3-FBE5-0D4B-6763BFCAD6A6}"/>
              </a:ext>
            </a:extLst>
          </p:cNvPr>
          <p:cNvPicPr>
            <a:picLocks noChangeAspect="1"/>
          </p:cNvPicPr>
          <p:nvPr/>
        </p:nvPicPr>
        <p:blipFill>
          <a:blip r:embed="rId2"/>
          <a:stretch>
            <a:fillRect/>
          </a:stretch>
        </p:blipFill>
        <p:spPr>
          <a:xfrm>
            <a:off x="381000" y="1091087"/>
            <a:ext cx="8382000" cy="5433848"/>
          </a:xfrm>
          <a:prstGeom prst="rect">
            <a:avLst/>
          </a:prstGeom>
        </p:spPr>
      </p:pic>
    </p:spTree>
    <p:extLst>
      <p:ext uri="{BB962C8B-B14F-4D97-AF65-F5344CB8AC3E}">
        <p14:creationId xmlns:p14="http://schemas.microsoft.com/office/powerpoint/2010/main" val="793549780"/>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3A0E63-658F-FF90-A6FB-43316895DE03}"/>
            </a:ext>
          </a:extLst>
        </p:cNvPr>
        <p:cNvGrpSpPr/>
        <p:nvPr/>
      </p:nvGrpSpPr>
      <p:grpSpPr>
        <a:xfrm>
          <a:off x="0" y="0"/>
          <a:ext cx="0" cy="0"/>
          <a:chOff x="0" y="0"/>
          <a:chExt cx="0" cy="0"/>
        </a:xfrm>
      </p:grpSpPr>
      <p:sp>
        <p:nvSpPr>
          <p:cNvPr id="196" name="TextBox 6">
            <a:extLst>
              <a:ext uri="{FF2B5EF4-FFF2-40B4-BE49-F238E27FC236}">
                <a16:creationId xmlns:a16="http://schemas.microsoft.com/office/drawing/2014/main" id="{CECA72A1-4F24-98DD-15B5-FF47879CE791}"/>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8435" name="CustomShape 1">
            <a:extLst>
              <a:ext uri="{FF2B5EF4-FFF2-40B4-BE49-F238E27FC236}">
                <a16:creationId xmlns:a16="http://schemas.microsoft.com/office/drawing/2014/main" id="{9A71E684-ED7A-997B-2BD6-593E6DE72D96}"/>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8436" name="!!TextBox">
            <a:extLst>
              <a:ext uri="{FF2B5EF4-FFF2-40B4-BE49-F238E27FC236}">
                <a16:creationId xmlns:a16="http://schemas.microsoft.com/office/drawing/2014/main" id="{4E429712-3389-88E3-60D1-C125337AED85}"/>
              </a:ext>
            </a:extLst>
          </p:cNvPr>
          <p:cNvSpPr txBox="1">
            <a:spLocks noChangeArrowheads="1"/>
          </p:cNvSpPr>
          <p:nvPr/>
        </p:nvSpPr>
        <p:spPr bwMode="auto">
          <a:xfrm>
            <a:off x="2212975" y="342900"/>
            <a:ext cx="44116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r>
              <a:rPr lang="en-US" altLang="en-US" sz="3200" b="1" dirty="0">
                <a:latin typeface="Times New Roman" panose="02020603050405020304" pitchFamily="18" charset="0"/>
                <a:ea typeface="Avenir Next Regular"/>
                <a:cs typeface="Times New Roman" panose="02020603050405020304" pitchFamily="18" charset="0"/>
                <a:sym typeface="Avenir Next Regular"/>
              </a:rPr>
              <a:t>Methodology</a:t>
            </a:r>
          </a:p>
        </p:txBody>
      </p:sp>
      <p:sp>
        <p:nvSpPr>
          <p:cNvPr id="18437" name="TextBox 23">
            <a:extLst>
              <a:ext uri="{FF2B5EF4-FFF2-40B4-BE49-F238E27FC236}">
                <a16:creationId xmlns:a16="http://schemas.microsoft.com/office/drawing/2014/main" id="{96EA2662-7662-266B-452F-A46C67E3B827}"/>
              </a:ext>
            </a:extLst>
          </p:cNvPr>
          <p:cNvSpPr txBox="1">
            <a:spLocks noChangeArrowheads="1"/>
          </p:cNvSpPr>
          <p:nvPr/>
        </p:nvSpPr>
        <p:spPr bwMode="auto">
          <a:xfrm>
            <a:off x="80168" y="1280785"/>
            <a:ext cx="8677275"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collection:</a:t>
            </a:r>
            <a:r>
              <a:rPr lang="en-IN" dirty="0">
                <a:latin typeface="Times New Roman" panose="02020603050405020304" pitchFamily="18" charset="0"/>
                <a:cs typeface="Times New Roman" panose="02020603050405020304" pitchFamily="18" charset="0"/>
              </a:rPr>
              <a:t> Example sentences are written for four intents (greet, goodbye, </a:t>
            </a:r>
            <a:r>
              <a:rPr lang="en-IN" dirty="0" err="1">
                <a:latin typeface="Times New Roman" panose="02020603050405020304" pitchFamily="18" charset="0"/>
                <a:cs typeface="Times New Roman" panose="02020603050405020304" pitchFamily="18" charset="0"/>
              </a:rPr>
              <a:t>describe_symptom</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ask_prevention</a:t>
            </a:r>
            <a:r>
              <a:rPr lang="en-IN" dirty="0">
                <a:latin typeface="Times New Roman" panose="02020603050405020304" pitchFamily="18" charset="0"/>
                <a:cs typeface="Times New Roman" panose="02020603050405020304" pitchFamily="18" charset="0"/>
              </a:rPr>
              <a:t>). A knowledge base of 41 diseases, with symptoms, precautions and doctor advice, is compiled from public data into a CSV file.</a:t>
            </a:r>
          </a:p>
          <a:p>
            <a:pPr lvl="0"/>
            <a:endParaRPr lang="en-IN"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preprocessing:</a:t>
            </a:r>
            <a:r>
              <a:rPr lang="en-IN" dirty="0">
                <a:latin typeface="Times New Roman" panose="02020603050405020304" pitchFamily="18" charset="0"/>
                <a:cs typeface="Times New Roman" panose="02020603050405020304" pitchFamily="18" charset="0"/>
              </a:rPr>
              <a:t> Symptoms are annotated as entities, synonyms are normalised, duplicate examples are removed, and every disease record follows one format.</a:t>
            </a:r>
          </a:p>
          <a:p>
            <a:pPr lvl="0"/>
            <a:endParaRPr lang="en-IN"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NLU model training:</a:t>
            </a:r>
            <a:r>
              <a:rPr lang="en-IN" dirty="0">
                <a:latin typeface="Times New Roman" panose="02020603050405020304" pitchFamily="18" charset="0"/>
                <a:cs typeface="Times New Roman" panose="02020603050405020304" pitchFamily="18" charset="0"/>
              </a:rPr>
              <a:t> The Rasa pipeline tokenises and </a:t>
            </a:r>
            <a:r>
              <a:rPr lang="en-IN" dirty="0" err="1">
                <a:latin typeface="Times New Roman" panose="02020603050405020304" pitchFamily="18" charset="0"/>
                <a:cs typeface="Times New Roman" panose="02020603050405020304" pitchFamily="18" charset="0"/>
              </a:rPr>
              <a:t>featurises</a:t>
            </a:r>
            <a:r>
              <a:rPr lang="en-IN" dirty="0">
                <a:latin typeface="Times New Roman" panose="02020603050405020304" pitchFamily="18" charset="0"/>
                <a:cs typeface="Times New Roman" panose="02020603050405020304" pitchFamily="18" charset="0"/>
              </a:rPr>
              <a:t> each message, then predicts the intent and extracts the symptoms. The symptoms are stored in a slot.</a:t>
            </a:r>
          </a:p>
          <a:p>
            <a:pPr lvl="0"/>
            <a:endParaRPr lang="en-IN"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Symptom-to-disease matching:</a:t>
            </a:r>
            <a:r>
              <a:rPr lang="en-IN" dirty="0">
                <a:latin typeface="Times New Roman" panose="02020603050405020304" pitchFamily="18" charset="0"/>
                <a:cs typeface="Times New Roman" panose="02020603050405020304" pitchFamily="18" charset="0"/>
              </a:rPr>
              <a:t> A custom Python action scores each disease by the number of matching symptoms and returns the top one. If several diseases tie, it lists all of them.</a:t>
            </a:r>
          </a:p>
          <a:p>
            <a:pPr lvl="0"/>
            <a:endParaRPr lang="en-IN" dirty="0">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Safe response and evaluation:</a:t>
            </a:r>
            <a:r>
              <a:rPr lang="en-IN" dirty="0">
                <a:latin typeface="Times New Roman" panose="02020603050405020304" pitchFamily="18" charset="0"/>
                <a:cs typeface="Times New Roman" panose="02020603050405020304" pitchFamily="18" charset="0"/>
              </a:rPr>
              <a:t> Every reply ends with a disclaimer, vague input gets a fallback, and the symptom slot is cleared after each reply. The NLU model is evaluated with five-fold cross-validation using rasa test</a:t>
            </a:r>
            <a:r>
              <a:rPr lang="en-IN" dirty="0"/>
              <a:t>.</a:t>
            </a:r>
          </a:p>
        </p:txBody>
      </p:sp>
    </p:spTree>
    <p:extLst>
      <p:ext uri="{BB962C8B-B14F-4D97-AF65-F5344CB8AC3E}">
        <p14:creationId xmlns:p14="http://schemas.microsoft.com/office/powerpoint/2010/main" val="777244479"/>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3A0E63-658F-FF90-A6FB-43316895DE03}"/>
            </a:ext>
          </a:extLst>
        </p:cNvPr>
        <p:cNvGrpSpPr/>
        <p:nvPr/>
      </p:nvGrpSpPr>
      <p:grpSpPr>
        <a:xfrm>
          <a:off x="0" y="0"/>
          <a:ext cx="0" cy="0"/>
          <a:chOff x="0" y="0"/>
          <a:chExt cx="0" cy="0"/>
        </a:xfrm>
      </p:grpSpPr>
      <p:sp>
        <p:nvSpPr>
          <p:cNvPr id="196" name="TextBox 6">
            <a:extLst>
              <a:ext uri="{FF2B5EF4-FFF2-40B4-BE49-F238E27FC236}">
                <a16:creationId xmlns:a16="http://schemas.microsoft.com/office/drawing/2014/main" id="{CECA72A1-4F24-98DD-15B5-FF47879CE791}"/>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8435" name="CustomShape 1">
            <a:extLst>
              <a:ext uri="{FF2B5EF4-FFF2-40B4-BE49-F238E27FC236}">
                <a16:creationId xmlns:a16="http://schemas.microsoft.com/office/drawing/2014/main" id="{9A71E684-ED7A-997B-2BD6-593E6DE72D96}"/>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8436" name="!!TextBox">
            <a:extLst>
              <a:ext uri="{FF2B5EF4-FFF2-40B4-BE49-F238E27FC236}">
                <a16:creationId xmlns:a16="http://schemas.microsoft.com/office/drawing/2014/main" id="{4E429712-3389-88E3-60D1-C125337AED85}"/>
              </a:ext>
            </a:extLst>
          </p:cNvPr>
          <p:cNvSpPr txBox="1">
            <a:spLocks noChangeArrowheads="1"/>
          </p:cNvSpPr>
          <p:nvPr/>
        </p:nvSpPr>
        <p:spPr bwMode="auto">
          <a:xfrm>
            <a:off x="2075323" y="330200"/>
            <a:ext cx="44116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r>
              <a:rPr lang="en-US" altLang="en-US" sz="3200" b="1" dirty="0">
                <a:latin typeface="Times New Roman" panose="02020603050405020304" pitchFamily="18" charset="0"/>
                <a:ea typeface="Avenir Next Regular"/>
                <a:cs typeface="Times New Roman" panose="02020603050405020304" pitchFamily="18" charset="0"/>
                <a:sym typeface="Avenir Next Regular"/>
              </a:rPr>
              <a:t>I</a:t>
            </a:r>
            <a:r>
              <a:rPr lang="en-IN" altLang="en-US" sz="3200" b="1" dirty="0" err="1">
                <a:latin typeface="Times New Roman" panose="02020603050405020304" pitchFamily="18" charset="0"/>
                <a:ea typeface="Avenir Next Regular"/>
                <a:cs typeface="Times New Roman" panose="02020603050405020304" pitchFamily="18" charset="0"/>
                <a:sym typeface="Avenir Next Regular"/>
              </a:rPr>
              <a:t>mplementation</a:t>
            </a:r>
            <a:r>
              <a:rPr lang="en-IN" altLang="en-US" sz="3200" b="1" dirty="0">
                <a:latin typeface="Times New Roman" panose="02020603050405020304" pitchFamily="18" charset="0"/>
                <a:ea typeface="Avenir Next Regular"/>
                <a:cs typeface="Times New Roman" panose="02020603050405020304" pitchFamily="18" charset="0"/>
                <a:sym typeface="Avenir Next Regular"/>
              </a:rPr>
              <a:t> </a:t>
            </a:r>
          </a:p>
        </p:txBody>
      </p:sp>
      <p:sp>
        <p:nvSpPr>
          <p:cNvPr id="18437" name="TextBox 23">
            <a:extLst>
              <a:ext uri="{FF2B5EF4-FFF2-40B4-BE49-F238E27FC236}">
                <a16:creationId xmlns:a16="http://schemas.microsoft.com/office/drawing/2014/main" id="{96EA2662-7662-266B-452F-A46C67E3B827}"/>
              </a:ext>
            </a:extLst>
          </p:cNvPr>
          <p:cNvSpPr txBox="1">
            <a:spLocks noChangeArrowheads="1"/>
          </p:cNvSpPr>
          <p:nvPr/>
        </p:nvSpPr>
        <p:spPr bwMode="auto">
          <a:xfrm>
            <a:off x="127819" y="1198796"/>
            <a:ext cx="8778056"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Environment:</a:t>
            </a:r>
            <a:r>
              <a:rPr lang="en-IN" dirty="0">
                <a:latin typeface="Times New Roman" panose="02020603050405020304" pitchFamily="18" charset="0"/>
                <a:cs typeface="Times New Roman" panose="02020603050405020304" pitchFamily="18" charset="0"/>
              </a:rPr>
              <a:t> Python 3.10 in a virtual environment, with Rasa and Rasa SDK, developed in VS Code on Windows.</a:t>
            </a:r>
          </a:p>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Project files: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nlu.yml</a:t>
            </a:r>
            <a:r>
              <a:rPr lang="en-IN" dirty="0">
                <a:latin typeface="Times New Roman" panose="02020603050405020304" pitchFamily="18" charset="0"/>
                <a:cs typeface="Times New Roman" panose="02020603050405020304" pitchFamily="18" charset="0"/>
              </a:rPr>
              <a:t> (training data), </a:t>
            </a:r>
            <a:r>
              <a:rPr lang="en-IN" dirty="0" err="1">
                <a:latin typeface="Times New Roman" panose="02020603050405020304" pitchFamily="18" charset="0"/>
                <a:cs typeface="Times New Roman" panose="02020603050405020304" pitchFamily="18" charset="0"/>
              </a:rPr>
              <a:t>domain.yml</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rules.yml</a:t>
            </a:r>
            <a:r>
              <a:rPr lang="en-IN" dirty="0">
                <a:latin typeface="Times New Roman" panose="02020603050405020304" pitchFamily="18" charset="0"/>
                <a:cs typeface="Times New Roman" panose="02020603050405020304" pitchFamily="18" charset="0"/>
              </a:rPr>
              <a:t> (replies and dialogue), disease_data.csv (knowledge base), actions/actions.py (matching logic) and </a:t>
            </a:r>
            <a:r>
              <a:rPr lang="en-IN" dirty="0" err="1">
                <a:latin typeface="Times New Roman" panose="02020603050405020304" pitchFamily="18" charset="0"/>
                <a:cs typeface="Times New Roman" panose="02020603050405020304" pitchFamily="18" charset="0"/>
              </a:rPr>
              <a:t>endpoints.yml</a:t>
            </a:r>
            <a:r>
              <a:rPr lang="en-IN" dirty="0">
                <a:latin typeface="Times New Roman" panose="02020603050405020304" pitchFamily="18" charset="0"/>
                <a:cs typeface="Times New Roman" panose="02020603050405020304" pitchFamily="18" charset="0"/>
              </a:rPr>
              <a:t> (server link).</a:t>
            </a:r>
          </a:p>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Custom action: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action_match_disease</a:t>
            </a:r>
            <a:r>
              <a:rPr lang="en-IN" dirty="0">
                <a:latin typeface="Times New Roman" panose="02020603050405020304" pitchFamily="18" charset="0"/>
                <a:cs typeface="Times New Roman" panose="02020603050405020304" pitchFamily="18" charset="0"/>
              </a:rPr>
              <a:t> loads the CSV, matches the extracted symptoms to each disease, picks the highest score or lists the ties, adds the disclaimer and resets the slot.</a:t>
            </a:r>
          </a:p>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Running the system:</a:t>
            </a:r>
            <a:r>
              <a:rPr lang="en-IN" dirty="0">
                <a:latin typeface="Times New Roman" panose="02020603050405020304" pitchFamily="18" charset="0"/>
                <a:cs typeface="Times New Roman" panose="02020603050405020304" pitchFamily="18" charset="0"/>
              </a:rPr>
              <a:t> The action server starts first (rasa run actions, port 5055), then the chat starts (rasa shell). </a:t>
            </a:r>
            <a:r>
              <a:rPr lang="en-IN" dirty="0" err="1">
                <a:latin typeface="Times New Roman" panose="02020603050405020304" pitchFamily="18" charset="0"/>
                <a:cs typeface="Times New Roman" panose="02020603050405020304" pitchFamily="18" charset="0"/>
              </a:rPr>
              <a:t>endpoints.yml</a:t>
            </a:r>
            <a:r>
              <a:rPr lang="en-IN" dirty="0">
                <a:latin typeface="Times New Roman" panose="02020603050405020304" pitchFamily="18" charset="0"/>
                <a:cs typeface="Times New Roman" panose="02020603050405020304" pitchFamily="18" charset="0"/>
              </a:rPr>
              <a:t> connects the two.</a:t>
            </a:r>
          </a:p>
          <a:p>
            <a:pPr lvl="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Testing and fixes:</a:t>
            </a:r>
            <a:r>
              <a:rPr lang="en-IN" dirty="0">
                <a:latin typeface="Times New Roman" panose="02020603050405020304" pitchFamily="18" charset="0"/>
                <a:cs typeface="Times New Roman" panose="02020603050405020304" pitchFamily="18" charset="0"/>
              </a:rPr>
              <a:t> Dengue and Common Cold messages were tested in the Rasa shell. The missing action endpoint and symptoms carrying over between messages were fixed. Cross-validation gave about 99% intent accuracy and about 97% symptom extraction, so quote the exact values from your results folder.</a:t>
            </a:r>
          </a:p>
        </p:txBody>
      </p:sp>
    </p:spTree>
    <p:extLst>
      <p:ext uri="{BB962C8B-B14F-4D97-AF65-F5344CB8AC3E}">
        <p14:creationId xmlns:p14="http://schemas.microsoft.com/office/powerpoint/2010/main" val="777244479"/>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DB29A7-EA16-F4AF-F621-45DF82EDCF59}"/>
            </a:ext>
          </a:extLst>
        </p:cNvPr>
        <p:cNvGrpSpPr/>
        <p:nvPr/>
      </p:nvGrpSpPr>
      <p:grpSpPr>
        <a:xfrm>
          <a:off x="0" y="0"/>
          <a:ext cx="0" cy="0"/>
          <a:chOff x="0" y="0"/>
          <a:chExt cx="0" cy="0"/>
        </a:xfrm>
      </p:grpSpPr>
      <p:sp>
        <p:nvSpPr>
          <p:cNvPr id="196" name="TextBox 6">
            <a:extLst>
              <a:ext uri="{FF2B5EF4-FFF2-40B4-BE49-F238E27FC236}">
                <a16:creationId xmlns:a16="http://schemas.microsoft.com/office/drawing/2014/main" id="{4808D952-CABD-4F2A-14C2-1ED8EEE3463D}"/>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18435" name="CustomShape 1">
            <a:extLst>
              <a:ext uri="{FF2B5EF4-FFF2-40B4-BE49-F238E27FC236}">
                <a16:creationId xmlns:a16="http://schemas.microsoft.com/office/drawing/2014/main" id="{7C0D788A-BC68-33AB-2BD0-F6DC75E7F799}"/>
              </a:ext>
            </a:extLst>
          </p:cNvPr>
          <p:cNvSpPr>
            <a:spLocks noChangeArrowheads="1"/>
          </p:cNvSpPr>
          <p:nvPr/>
        </p:nvSpPr>
        <p:spPr bwMode="auto">
          <a:xfrm>
            <a:off x="228600" y="914400"/>
            <a:ext cx="8380413" cy="76200"/>
          </a:xfrm>
          <a:prstGeom prst="rect">
            <a:avLst/>
          </a:prstGeom>
          <a:solidFill>
            <a:srgbClr val="7030A0"/>
          </a:solidFill>
          <a:ln w="25560">
            <a:solidFill>
              <a:srgbClr val="3A5F8B"/>
            </a:solidFill>
            <a:miter lim="800000"/>
            <a:headEnd/>
            <a:tailEnd/>
          </a:ln>
        </p:spPr>
        <p:txBody>
          <a:bodyPr lIns="45718" tIns="45718" rIns="45718" bIns="45718"/>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endParaRPr lang="en-US" altLang="en-US">
              <a:latin typeface="Calibri" panose="020F0502020204030204" pitchFamily="34" charset="0"/>
              <a:cs typeface="Calibri" panose="020F0502020204030204" pitchFamily="34" charset="0"/>
              <a:sym typeface="Calibri" panose="020F0502020204030204" pitchFamily="34" charset="0"/>
            </a:endParaRPr>
          </a:p>
        </p:txBody>
      </p:sp>
      <p:sp>
        <p:nvSpPr>
          <p:cNvPr id="18436" name="!!TextBox">
            <a:extLst>
              <a:ext uri="{FF2B5EF4-FFF2-40B4-BE49-F238E27FC236}">
                <a16:creationId xmlns:a16="http://schemas.microsoft.com/office/drawing/2014/main" id="{EFCA571C-62A2-477C-0117-FCF2D455E9E2}"/>
              </a:ext>
            </a:extLst>
          </p:cNvPr>
          <p:cNvSpPr txBox="1">
            <a:spLocks noChangeArrowheads="1"/>
          </p:cNvSpPr>
          <p:nvPr/>
        </p:nvSpPr>
        <p:spPr bwMode="auto">
          <a:xfrm>
            <a:off x="822000" y="342900"/>
            <a:ext cx="7500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8" tIns="45718" rIns="45718" bIns="45718">
            <a:spAutoFit/>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algn="ctr" eaLnBrk="1" hangingPunct="1"/>
            <a:r>
              <a:rPr lang="en-US" altLang="en-US" sz="3200" b="1" dirty="0">
                <a:latin typeface="Times New Roman" panose="02020603050405020304" pitchFamily="18" charset="0"/>
                <a:ea typeface="Avenir Next Regular"/>
                <a:cs typeface="Times New Roman" panose="02020603050405020304" pitchFamily="18" charset="0"/>
                <a:sym typeface="Avenir Next Regular"/>
              </a:rPr>
              <a:t>References</a:t>
            </a:r>
          </a:p>
        </p:txBody>
      </p:sp>
      <p:sp>
        <p:nvSpPr>
          <p:cNvPr id="2" name="TextBox 1">
            <a:extLst>
              <a:ext uri="{FF2B5EF4-FFF2-40B4-BE49-F238E27FC236}">
                <a16:creationId xmlns:a16="http://schemas.microsoft.com/office/drawing/2014/main" id="{BFACDAEF-4B69-C2EA-900E-29A8AAAB104A}"/>
              </a:ext>
            </a:extLst>
          </p:cNvPr>
          <p:cNvSpPr txBox="1"/>
          <p:nvPr/>
        </p:nvSpPr>
        <p:spPr>
          <a:xfrm>
            <a:off x="171757" y="1347019"/>
            <a:ext cx="8561438" cy="4801314"/>
          </a:xfrm>
          <a:prstGeom prst="rect">
            <a:avLst/>
          </a:prstGeom>
          <a:noFill/>
        </p:spPr>
        <p:txBody>
          <a:bodyPr wrap="square" rtlCol="0">
            <a:spAutoFit/>
          </a:bodyPr>
          <a:lstStyle/>
          <a:p>
            <a:pPr marL="400050" lvl="0" indent="-4000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I.Agarwal</a:t>
            </a:r>
            <a:r>
              <a:rPr lang="en-IN" dirty="0">
                <a:latin typeface="Times New Roman" panose="02020603050405020304" pitchFamily="18" charset="0"/>
                <a:cs typeface="Times New Roman" panose="02020603050405020304" pitchFamily="18" charset="0"/>
              </a:rPr>
              <a:t>, V. Sakthivel, and P. Prakash, “Toward inclusive healthcare: An LLM-based multimodal chatbot for preliminary diagnosis,”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vol. 13, 2025,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10.1109/ACCESS.2025.3594218.</a:t>
            </a:r>
          </a:p>
          <a:p>
            <a:pPr lvl="0"/>
            <a:endParaRPr lang="en-IN" dirty="0">
              <a:latin typeface="Times New Roman" panose="02020603050405020304" pitchFamily="18" charset="0"/>
              <a:cs typeface="Times New Roman" panose="02020603050405020304" pitchFamily="18" charset="0"/>
            </a:endParaRPr>
          </a:p>
          <a:p>
            <a:pPr marL="400050" lvl="0" indent="-4000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I.Almubark</a:t>
            </a:r>
            <a:r>
              <a:rPr lang="en-IN" dirty="0">
                <a:latin typeface="Times New Roman" panose="02020603050405020304" pitchFamily="18" charset="0"/>
                <a:cs typeface="Times New Roman" panose="02020603050405020304" pitchFamily="18" charset="0"/>
              </a:rPr>
              <a:t>, “Exploring the impact of large language models on disease diagnosis,”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vol. 13, pp. 8225–8238, 2025,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10.1109/ACCESS.2025.3527025.</a:t>
            </a:r>
          </a:p>
          <a:p>
            <a:pPr marL="400050" lvl="0" indent="-400050">
              <a:buAutoNum type="romanUcPeriod"/>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 Pradhan, S. Das, D. S. Roy, S. Routray, F. Benedetto, and R. H. Jhaveri, “An AI-assisted smart healthcare system using 5G communication,”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vol. 11, pp. 108339–108355, 2023,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10.1109/ACCESS.2023.3317174.</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 A. Santos, G. G. de Andrade, G. R. S. Silva, F. C. M. Duarte Jr., J. P. J. da Costa, and R. T. de Sousa Jr., “A conversation-driven approach for chatbot management,”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vol. 10, pp. 8474–8486, 2022,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10.1109/ACCESS.2022.3143323.</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 </a:t>
            </a:r>
            <a:r>
              <a:rPr lang="en-IN" dirty="0" err="1">
                <a:latin typeface="Times New Roman" panose="02020603050405020304" pitchFamily="18" charset="0"/>
                <a:cs typeface="Times New Roman" panose="02020603050405020304" pitchFamily="18" charset="0"/>
              </a:rPr>
              <a:t>Bocklisch</a:t>
            </a:r>
            <a:r>
              <a:rPr lang="en-IN" dirty="0">
                <a:latin typeface="Times New Roman" panose="02020603050405020304" pitchFamily="18" charset="0"/>
                <a:cs typeface="Times New Roman" panose="02020603050405020304" pitchFamily="18" charset="0"/>
              </a:rPr>
              <a:t>, J. Faulkner, N. Pawlowski, and A. Nichol, “Rasa: Open source language understanding and dialogue management,”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preprint arXiv:1712.05181, 2017.</a:t>
            </a:r>
          </a:p>
        </p:txBody>
      </p:sp>
    </p:spTree>
    <p:extLst>
      <p:ext uri="{BB962C8B-B14F-4D97-AF65-F5344CB8AC3E}">
        <p14:creationId xmlns:p14="http://schemas.microsoft.com/office/powerpoint/2010/main" val="1129175349"/>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ED826E-000E-B036-DCF5-BCC225D63B45}"/>
            </a:ext>
          </a:extLst>
        </p:cNvPr>
        <p:cNvGrpSpPr/>
        <p:nvPr/>
      </p:nvGrpSpPr>
      <p:grpSpPr>
        <a:xfrm>
          <a:off x="0" y="0"/>
          <a:ext cx="0" cy="0"/>
          <a:chOff x="0" y="0"/>
          <a:chExt cx="0" cy="0"/>
        </a:xfrm>
      </p:grpSpPr>
      <p:sp>
        <p:nvSpPr>
          <p:cNvPr id="196" name="TextBox 6">
            <a:extLst>
              <a:ext uri="{FF2B5EF4-FFF2-40B4-BE49-F238E27FC236}">
                <a16:creationId xmlns:a16="http://schemas.microsoft.com/office/drawing/2014/main" id="{3DE8F97F-FBB2-1EE8-4B67-7CEEBBB8C2BD}"/>
              </a:ext>
            </a:extLst>
          </p:cNvPr>
          <p:cNvSpPr txBox="1"/>
          <p:nvPr/>
        </p:nvSpPr>
        <p:spPr>
          <a:xfrm>
            <a:off x="523875" y="2371725"/>
            <a:ext cx="8382000" cy="708025"/>
          </a:xfrm>
          <a:prstGeom prst="rect">
            <a:avLst/>
          </a:prstGeom>
          <a:ln w="12700">
            <a:miter lim="400000"/>
          </a:ln>
        </p:spPr>
        <p:txBody>
          <a:bodyPr lIns="45718" tIns="45718" rIns="45718" bIns="45718">
            <a:spAutoFit/>
          </a:bodyPr>
          <a:lstStyle/>
          <a:p>
            <a:pPr marL="285750" indent="-285750" algn="just" eaLnBrk="1" fontAlgn="auto" hangingPunct="1">
              <a:spcBef>
                <a:spcPts val="0"/>
              </a:spcBef>
              <a:spcAft>
                <a:spcPts val="0"/>
              </a:spcAft>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defRPr sz="2800" b="1">
                <a:latin typeface="Calibri"/>
                <a:ea typeface="Calibri"/>
                <a:cs typeface="Calibri"/>
                <a:sym typeface="Calibri"/>
              </a:defRPr>
            </a:pPr>
            <a:endParaRPr sz="2000" b="1" dirty="0">
              <a:latin typeface="Times New Roman" panose="02020603050405020304" pitchFamily="18" charset="0"/>
              <a:ea typeface="Calibri"/>
              <a:cs typeface="Times New Roman" panose="02020603050405020304" pitchFamily="18" charset="0"/>
              <a:sym typeface="Calibri"/>
            </a:endParaRPr>
          </a:p>
        </p:txBody>
      </p:sp>
      <p:sp>
        <p:nvSpPr>
          <p:cNvPr id="2" name="TextBox 1">
            <a:extLst>
              <a:ext uri="{FF2B5EF4-FFF2-40B4-BE49-F238E27FC236}">
                <a16:creationId xmlns:a16="http://schemas.microsoft.com/office/drawing/2014/main" id="{2236CA49-A276-834F-9331-36D2C4520A6A}"/>
              </a:ext>
            </a:extLst>
          </p:cNvPr>
          <p:cNvSpPr txBox="1"/>
          <p:nvPr/>
        </p:nvSpPr>
        <p:spPr>
          <a:xfrm>
            <a:off x="2281084" y="2537849"/>
            <a:ext cx="6420465"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THANK YOU!!! </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9494764"/>
      </p:ext>
    </p:extLst>
  </p:cSld>
  <p:clrMapOvr>
    <a:masterClrMapping/>
  </p:clrMapOvr>
  <p:transition spd="slow">
    <p:fade/>
  </p:transition>
</p:sld>
</file>

<file path=ppt/theme/theme1.xml><?xml version="1.0" encoding="utf-8"?>
<a:theme xmlns:a="http://schemas.openxmlformats.org/drawingml/2006/main" name="Parcel">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batch_03_PRC_3" id="{1E73EFC7-8B17-43FD-AF1D-9B68238A511E}" vid="{1805BC25-AA47-4FE1-9FBA-B057A41619FF}"/>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themeOverride>
</file>

<file path=ppt/theme/themeOverride2.xml><?xml version="1.0" encoding="utf-8"?>
<a:themeOverride xmlns:a="http://schemas.openxmlformats.org/drawingml/2006/main">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themeOverride>
</file>

<file path=docProps/app.xml><?xml version="1.0" encoding="utf-8"?>
<Properties xmlns="http://schemas.openxmlformats.org/officeDocument/2006/extended-properties" xmlns:vt="http://schemas.openxmlformats.org/officeDocument/2006/docPropsVTypes">
  <Template>prc-template</Template>
  <TotalTime>407</TotalTime>
  <Words>2167</Words>
  <Application>Microsoft Office PowerPoint</Application>
  <PresentationFormat>On-screen Show (4:3)</PresentationFormat>
  <Paragraphs>97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Gill Sans MT</vt:lpstr>
      <vt:lpstr>Times New Roman</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Manasa Bejugam</dc:creator>
  <cp:lastModifiedBy>Sapavat Thirumala</cp:lastModifiedBy>
  <cp:revision>14</cp:revision>
  <cp:lastPrinted>2025-11-19T04:50:32Z</cp:lastPrinted>
  <dcterms:created xsi:type="dcterms:W3CDTF">2026-01-18T11:39:58Z</dcterms:created>
  <dcterms:modified xsi:type="dcterms:W3CDTF">2026-10-23T06:56:25Z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2025-07-23T14:42:24Z</vt:lpwstr>
  </property>
  <property fmtid="{D5CDD505-2E9C-101B-9397-08002B2CF9AE}" pid="4" name="MSIP_Label_defa4170-0d19-0005-0004-bc88714345d2_Method">
    <vt:lpwstr>Privileged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b53219e7-83ba-46eb-b078-036d9eb9f715</vt:lpwstr>
  </property>
  <property fmtid="{D5CDD505-2E9C-101B-9397-08002B2CF9AE}" pid="7" name="MSIP_Label_defa4170-0d19-0005-0004-bc88714345d2_ActionId">
    <vt:lpwstr>9be7ea08-e87b-460d-8f27-a82f1b405a98</vt:lpwstr>
  </property>
  <property fmtid="{D5CDD505-2E9C-101B-9397-08002B2CF9AE}" pid="8" name="MSIP_Label_defa4170-0d19-0005-0004-bc88714345d2_ContentBits">
    <vt:lpwstr>0</vt:lpwstr>
  </property>
  <property fmtid="{D5CDD505-2E9C-101B-9397-08002B2CF9AE}" pid="9" name="MSIP_Label_defa4170-0d19-0005-0004-bc88714345d2_Tag">
    <vt:lpwstr>50, 0, 1, 1</vt:lpwstr>
  </property>
</Properties>
</file>